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Levered IRR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823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8811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7BC62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32E2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32E22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$10.5mm</c:v>
                  </c:pt>
                  <c:pt idx="1">
                    <c:v>$11.0mm</c:v>
                  </c:pt>
                  <c:pt idx="2">
                    <c:v>$11.25mm</c:v>
                  </c:pt>
                  <c:pt idx="3">
                    <c:v>$11.75mm</c:v>
                  </c:pt>
                  <c:pt idx="4">
                    <c:v>$12.5mm</c:v>
                  </c:pt>
                  <c:pt idx="5">
                    <c:v>$13.25mm</c:v>
                  </c:pt>
                  <c:pt idx="6">
                    <c:v>$14.2mm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0.172</c:v>
                </c:pt>
                <c:pt idx="1">
                  <c:v>0.152</c:v>
                </c:pt>
                <c:pt idx="2">
                  <c:v>0.142</c:v>
                </c:pt>
                <c:pt idx="3">
                  <c:v>0.123</c:v>
                </c:pt>
                <c:pt idx="4">
                  <c:v>0.094</c:v>
                </c:pt>
                <c:pt idx="5">
                  <c:v>0.065</c:v>
                </c:pt>
                <c:pt idx="6">
                  <c:v>0.031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750" u="none">
                  <a:solidFill>
                    <a:srgbClr val="1823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B7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base case is deliberately conservative on what we do not control — rent growth is set off actual 1Q-26 metro performance rather than a forecast, and the exit cap is held at 6.75%. It is confident on what we do control: the renovation premium, the ancillary income and expense management. To justify $14.2mm you would need roughly 4.0% annual rent growth AND a 6.25% exit cap simultaneously. Metro actual is 1.1%.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to lose this deal at $11.25mm; that is the right outcome. If the seller holds at $14.2mm we pass. Two structures worth testing before walking: a tax escrow or price adjustment tied to the first post-closing Form 11A, and a seller credit for the identified immediate needs (sump pumps, patio drains, asphalt — about $190K).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Chateau in the Woods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Units  ·  4020 Monaco Drive, Indianapolis, IN 46220  ·  Built 1974  ·  134,371 SF  ·  96.6% occupied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9052560" y="274320"/>
            <a:ext cx="2679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COMMITTEE</a:t>
            </a:r>
            <a:endParaRPr lang="en-US" sz="1100" dirty="0"/>
          </a:p>
          <a:p>
            <a:pPr algn="r" indent="0" marL="0">
              <a:buNone/>
            </a:pPr>
            <a:r>
              <a:rPr lang="en-US" sz="9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 ·  Value-Add Acquisition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74552" cy="731520"/>
          </a:xfrm>
          <a:prstGeom prst="roundRect">
            <a:avLst>
              <a:gd name="adj" fmla="val 7500"/>
            </a:avLst>
          </a:prstGeom>
          <a:solidFill>
            <a:srgbClr val="C8811F"/>
          </a:solidFill>
          <a:ln/>
          <a:effectLst>
            <a:outerShdw sx="100000" sy="100000" kx="0" ky="0" algn="bl" rotWithShape="0" blurRad="101600" dist="25400" dir="5400000">
              <a:srgbClr val="0B1512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0972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CONDITIONAL:  </a:t>
            </a:r>
            <a:pPr indent="0" marL="0">
              <a:buNone/>
            </a:pPr>
            <a:r>
              <a:rPr lang="en-US" sz="1600" dirty="0">
                <a:solidFill>
                  <a:srgbClr val="2A1B0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the plan and the capital — not the price.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92440" y="1097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A1B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$11.25mm ($95,339/unit).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2A1B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walk above $12.0mm.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$11.25mm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21792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bid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1792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$95,339 per unit  ·  7.57% going-in cap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00984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13" name="Text 11"/>
          <p:cNvSpPr/>
          <p:nvPr/>
        </p:nvSpPr>
        <p:spPr>
          <a:xfrm>
            <a:off x="3465576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14.2% / 1.83x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465576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our bid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65576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IRR / equity multiple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44768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A3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3.1% / 1.15x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6309360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$14.2mm ask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309360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Levered IRR / equity multiple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88552" y="2029968"/>
            <a:ext cx="2660904" cy="969264"/>
          </a:xfrm>
          <a:prstGeom prst="roundRect">
            <a:avLst>
              <a:gd name="adj" fmla="val 4717"/>
            </a:avLst>
          </a:prstGeom>
          <a:solidFill>
            <a:srgbClr val="1F423A"/>
          </a:solidFill>
          <a:ln/>
        </p:spPr>
      </p:sp>
      <p:sp>
        <p:nvSpPr>
          <p:cNvPr id="21" name="Text 19"/>
          <p:cNvSpPr/>
          <p:nvPr/>
        </p:nvSpPr>
        <p:spPr>
          <a:xfrm>
            <a:off x="9153144" y="210312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881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1.1%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53144" y="24871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rent growth, actual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53144" y="2688336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Yardi Matrix 1Q-26  ·  T-3 rents flat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7200" y="31821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02920" y="3474720"/>
            <a:ext cx="5532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 units, built 1974, Northside Indianapolis. 96.6% occupied, all units classic. Renovate all 118, add in-unit laundry to the 65 without it, modernise the common areas — $3.07mm, $26,030/unit.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renovation works. $15,754/unit earns a $166/month premium, a 12.7% return on cost. Renovated rents average $1.29/SF against a $1,310 metro average asking rent — Chateau's units are far larger than market, so we underwrite below the metro average per foot.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market is not growing. Yardi Matrix 1Q-26: metro rents FLAT on a trailing-three-month basis, up just 1.1% year over year, and 2025 starts MORE THAN DOUBLED — delivering 2027-28, inside our hold, with Carmel taking over half of 2026 deliveries just north of us. We underwrite 1.5/2.0/2.5/3.0/3.0%, not a flat 3%.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ask it is value-destructive. $14.2mm buys a 6.00% going-in cap and a Year-5 yield on cost of 6.58% — 17 bps BELOW our exit cap. The whole $3.07mm plan nets minus $6,880: the interior scope creates $1.06mm, deferred maintenance takes it back.</a:t>
            </a:r>
            <a:endParaRPr lang="en-US" sz="900" dirty="0"/>
          </a:p>
          <a:p>
            <a:pPr marL="342900" indent="-342900">
              <a:lnSpc>
                <a:spcPts val="1120"/>
              </a:lnSpc>
              <a:spcAft>
                <a:spcPts val="600"/>
              </a:spcAft>
              <a:buSzPct val="100000"/>
              <a:buChar char="▪"/>
            </a:pPr>
            <a:r>
              <a:rPr lang="en-US" sz="90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$11.25mm, best and final $11.5mm, hard walk $12.0mm. We will probably lose — that is the correct outcome at these fundamentals.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55080" y="31821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Returns</a:t>
            </a:r>
            <a:endParaRPr lang="en-US" sz="16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511296"/>
          <a:ext cx="5376672" cy="914400"/>
        </p:xfrm>
        <a:graphic>
          <a:graphicData uri="http://schemas.openxmlformats.org/drawingml/2006/table">
            <a:tbl>
              <a:tblPr/>
              <a:tblGrid>
                <a:gridCol w="2761488"/>
                <a:gridCol w="1335024"/>
                <a:gridCol w="1280160"/>
              </a:tblGrid>
              <a:tr h="2148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Five-year hold, Aug-26 to Jul-31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our bid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$11.25mm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$14.2mm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unit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$95,339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$120,339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Going-in cap rate (our underwriting)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basis per unit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$121,369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$146,369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Sponsor equity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$5.37mm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$7.04mm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Year-1 / Year-5 NOI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$852K / $1,137K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$852K / $1,137K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Year-5 yield on cost vs 6.75% exit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 bps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(17) bps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cash-on-cash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IRR / multiple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FE6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9.5% / 1.51x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B9C4B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 / 1.25x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Levered IRR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81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multiple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81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4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A"/>
                    </a:solidFill>
                  </a:tcPr>
                </a:tc>
              </a:tr>
            </a:tbl>
          </a:graphicData>
        </a:graphic>
      </p:graphicFrame>
      <p:sp>
        <p:nvSpPr>
          <p:cNvPr id="28" name="Text 25"/>
          <p:cNvSpPr/>
          <p:nvPr/>
        </p:nvSpPr>
        <p:spPr>
          <a:xfrm>
            <a:off x="457200" y="6510528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C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rent roll 07/01/2026 · T-12 Feb-25 to Jan-26 · CBRE OM 09/10/2025 · Yardi Matrix Indianapolis 1Q-2026. No price was provided; $14.2mm is implied by the OM's 6.9% Year-1 cap rate on CBRE's $980,838 forecast NOI. Debt: 65% LTC / 8.0% min debt yield / 5.85% interest-only.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Opportunities, Risks &amp; Assumptions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138160" y="32918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Chateau in the Woods  ·  118 Units  ·  Indianapolis, IN  ·  Investment Committee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237744" cy="23774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786384" y="813816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Opportunities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457200" y="1152144"/>
            <a:ext cx="3703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 laundry, all 118 units.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units lack it. At the case's $5,000/unit it earns an incremental $75/month — an 18% return on cost, the best item in the plan. The rent roll shows only 53 units with machines, not the OM's 78.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interior renovation.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$13,000/unit for cabinets, counters, LVP, appliances, fixtures and paint at a $125/month premium. Units were last touched in 2006.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headroom, priced conservatively.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Renovated rents average $1.29/SF against a $1,310 metro average asking rent — Chateau's units are far larger than market, so we underwrite below the metro average per foot. Avalon Lake (1974, nearby) gets $1,655 on 1,090 SF; our Verdun is $1,450.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Under-collected ancillary income.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$49 technology fee is only ~60% penetrated, the $25 valet trash charge is not yet billed although the property starts paying for it in Jan-26, and there is no pet rent — ~$110K a year of run-rate.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slack.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2.2% loss to lease and 6.8% trailing physical vacancy against a 5.5% stabilised target.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Upside not underwritten.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units from the Bldg 4042 storage conversion and 9 carport-to-garage conversions — real, but 5-10% returns.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434840" y="841248"/>
            <a:ext cx="237744" cy="237744"/>
          </a:xfrm>
          <a:prstGeom prst="ellipse">
            <a:avLst/>
          </a:prstGeom>
          <a:solidFill>
            <a:srgbClr val="A32E22"/>
          </a:solidFill>
          <a:ln/>
        </p:spPr>
      </p:sp>
      <p:sp>
        <p:nvSpPr>
          <p:cNvPr id="8" name="Text 6"/>
          <p:cNvSpPr/>
          <p:nvPr/>
        </p:nvSpPr>
        <p:spPr>
          <a:xfrm>
            <a:off x="4764024" y="813816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434840" y="1152144"/>
            <a:ext cx="3703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Basis, not the plan.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ask we pay a 6.00% going-in cap, fund $26,030/unit of capital, and reach a Year-5 yield on cost of 6.58% — below the 6.75% exit. The capital plan nets minus $6,880.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 and new supply.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rents flat on a trailing-three-month basis, +1.1% year over year in 1Q-26, and 2025 starts more than doubled — delivering 2027-28, inside our hold, with Carmel taking over half of 2026 deliveries just north of us. Each 100 bps of rent growth is worth ~3 points of IRR.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reassessment.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value $5.55mm against a $14.2mm price; the OM's comp study shows AV averaging 69% of sale price post-trade. We step taxes $140K to $210K — a move to 69% adds ~$110K a year, ~$1.6mm of value.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Unproven rent premium.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has been renovated to a current standard. Every $25/month of premium is worth ~1.3 points of IRR. A leased mock-up before we go hard would settle it.</a:t>
            </a:r>
            <a:endParaRPr lang="en-US" sz="900" dirty="0"/>
          </a:p>
          <a:p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 physical risk and exit.  </a:t>
            </a:r>
            <a:pPr indent="0" marL="0">
              <a:lnSpc>
                <a:spcPts val="1100"/>
              </a:lnSpc>
              <a:spcAft>
                <a:spcPts val="600"/>
              </a:spcAft>
              <a:buNone/>
            </a:pPr>
            <a:r>
              <a:rPr lang="en-US" sz="900" dirty="0">
                <a:solidFill>
                  <a:srgbClr val="3D4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 of 5 original rubber roofs, 37 below-grade units needing drains and sump pumps, original sliders, central gas water heaters. Plus 4 evictions and 8 notices on the rent roll, and 75 bps of exit cap expansion costs ~5 points of IRR.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412480" y="841248"/>
            <a:ext cx="237744" cy="237744"/>
          </a:xfrm>
          <a:prstGeom prst="ellipse">
            <a:avLst/>
          </a:prstGeom>
          <a:solidFill>
            <a:srgbClr val="C8811F"/>
          </a:solidFill>
          <a:ln/>
        </p:spPr>
      </p:sp>
      <p:sp>
        <p:nvSpPr>
          <p:cNvPr id="11" name="Text 9"/>
          <p:cNvSpPr/>
          <p:nvPr/>
        </p:nvSpPr>
        <p:spPr>
          <a:xfrm>
            <a:off x="8741664" y="8138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Major Assumptions</a:t>
            </a:r>
            <a:endParaRPr lang="en-US" sz="14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0" y="1152144"/>
          <a:ext cx="3319272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1289304"/>
              </a:tblGrid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3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Underwritten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31E"/>
                    </a:solidFill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price (not provided; from OM cap rate)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$14.2mm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rent growth Y1 to Y5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 to 3.0%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Reno start / pace / completion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 4 / 5 / mo 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Interior cost / rent premium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$13,000 / $125mo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W/D addition, 65 units (case-set)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 / $75mo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Non-unit capital + 8% contingency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$1.21mm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vacancy / reno downtime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5.5% / 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debt, Year 1 to Year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1.50% to 1.00%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estate taxes, Year 1 to Year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$140K to $210K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expenses, Year 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$8,948/unit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Debt: LTC / rate / structure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 / 5.85% / 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74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4A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cap / cost of sale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823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 / 1.5%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412480" y="4206240"/>
            <a:ext cx="33192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E7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growth is set off Yardi Matrix 1Q-26 ACTUALS, not a forecast. Where the rent roll and T-12 conflict with the OM, the Excel files govern — including the washer/dryer count (53, not the OM's 78).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57200" y="484632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823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Levered IRR by purchase price (6.75% exit cap)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384048" y="5084064"/>
          <a:ext cx="4800600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2"/>
          <p:cNvSpPr/>
          <p:nvPr/>
        </p:nvSpPr>
        <p:spPr>
          <a:xfrm>
            <a:off x="457200" y="639165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E7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14% hurdle is cleared only at or below $11.25mm — a 21% discount to the ask.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5486400" y="4773168"/>
            <a:ext cx="6245352" cy="1737360"/>
          </a:xfrm>
          <a:prstGeom prst="roundRect">
            <a:avLst>
              <a:gd name="adj" fmla="val 2632"/>
            </a:avLst>
          </a:prstGeom>
          <a:solidFill>
            <a:srgbClr val="16302A"/>
          </a:solidFill>
          <a:ln/>
          <a:effectLst>
            <a:outerShdw sx="100000" sy="100000" kx="0" ky="0" algn="bl" rotWithShape="0" blurRad="101600" dist="25400" dir="5400000">
              <a:srgbClr val="0B1512">
                <a:alpha val="16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760720" y="488289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Overall Assessment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760720" y="5157216"/>
            <a:ext cx="5715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DFE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well-located asset with a genuinely accretive renovation — 12.7% on cost, 18% on the laundry component. Approve the plan and the $3.07mm of capital; do not approve the price. To make $14.2mm work you would need roughly 4.0% annual rent growth AND a 6.25% exit cap simultaneously. Metro rents actually grew 1.1% last year and 2025 starts doubled. Underwriting a market recovery we do not control, to justify a price we do control, is how an acquisitions team loses money it cannot renovate its way out of. Bid $11.25mm and be willing to lose.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Chateau in the Woods — Investment Committee Recommendation</dc:title>
  <dc:subject>PptxGenJS Presentation</dc:subject>
  <dc:creator>Investment Committee Memorandum</dc:creator>
  <cp:lastModifiedBy>Investment Committee Memorandum</cp:lastModifiedBy>
  <cp:revision>1</cp:revision>
  <dcterms:created xsi:type="dcterms:W3CDTF">2026-07-30T14:04:23Z</dcterms:created>
  <dcterms:modified xsi:type="dcterms:W3CDTF">2026-07-30T14:04:23Z</dcterms:modified>
</cp:coreProperties>
</file>