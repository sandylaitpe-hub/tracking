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Levered IRR</c:v>
                </c:pt>
              </c:strCache>
            </c:strRef>
          </c:tx>
          <c:spPr>
            <a:solidFill>
              <a:srgbClr val="2E9E76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9E7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9E7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9E7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A7F7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A7F70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E2B2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E2B25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$10.5mm</c:v>
                  </c:pt>
                  <c:pt idx="1">
                    <c:v>$11.0mm</c:v>
                  </c:pt>
                  <c:pt idx="2">
                    <c:v>$11.5mm</c:v>
                  </c:pt>
                  <c:pt idx="3">
                    <c:v>$12.0mm</c:v>
                  </c:pt>
                  <c:pt idx="4">
                    <c:v>$12.5mm</c:v>
                  </c:pt>
                  <c:pt idx="5">
                    <c:v>$13.0mm</c:v>
                  </c:pt>
                  <c:pt idx="6">
                    <c:v>$13.625mm</c:v>
                  </c:pt>
                  <c:pt idx="7">
                    <c:v>$14.2mm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0.199</c:v>
                </c:pt>
                <c:pt idx="1">
                  <c:v>0.179</c:v>
                </c:pt>
                <c:pt idx="2">
                  <c:v>0.159</c:v>
                </c:pt>
                <c:pt idx="3">
                  <c:v>0.14</c:v>
                </c:pt>
                <c:pt idx="4">
                  <c:v>0.121</c:v>
                </c:pt>
                <c:pt idx="5">
                  <c:v>0.102</c:v>
                </c:pt>
                <c:pt idx="6">
                  <c:v>0.079</c:v>
                </c:pt>
                <c:pt idx="7">
                  <c:v>0.058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14% hurdle</c:v>
                </c:pt>
              </c:strCache>
            </c:strRef>
          </c:tx>
          <c:spPr>
            <a:solidFill>
              <a:srgbClr val="FFFFFF"/>
            </a:solidFill>
            <a:ln w="15875" cap="flat">
              <a:solidFill>
                <a:srgbClr val="FFFFFF"/>
              </a:solidFill>
              <a:prstDash val="dash"/>
              <a:round/>
            </a:ln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FFF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$10.5mm</c:v>
                  </c:pt>
                  <c:pt idx="1">
                    <c:v>$11.0mm</c:v>
                  </c:pt>
                  <c:pt idx="2">
                    <c:v>$11.5mm</c:v>
                  </c:pt>
                  <c:pt idx="3">
                    <c:v>$12.0mm</c:v>
                  </c:pt>
                  <c:pt idx="4">
                    <c:v>$12.5mm</c:v>
                  </c:pt>
                  <c:pt idx="5">
                    <c:v>$13.0mm</c:v>
                  </c:pt>
                  <c:pt idx="6">
                    <c:v>$13.625mm</c:v>
                  </c:pt>
                  <c:pt idx="7">
                    <c:v>$14.2mm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0.14</c:v>
                </c:pt>
                <c:pt idx="1">
                  <c:v>0.14</c:v>
                </c:pt>
                <c:pt idx="2">
                  <c:v>0.14</c:v>
                </c:pt>
                <c:pt idx="3">
                  <c:v>0.14</c:v>
                </c:pt>
                <c:pt idx="4">
                  <c:v>0.14</c:v>
                </c:pt>
                <c:pt idx="5">
                  <c:v>0.14</c:v>
                </c:pt>
                <c:pt idx="6">
                  <c:v>0.14</c:v>
                </c:pt>
                <c:pt idx="7">
                  <c:v>0.14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FC9A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25"/>
          <c:min val="0"/>
        </c:scaling>
        <c:delete val="1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3B2E"/>
        </a:solidFill>
        <a:ln>
          <a:noFill/>
        </a:ln>
        <a:effectLst/>
      </c:spPr>
    </c:plotArea>
    <c:plotVisOnly val="1"/>
    <c:dispBlanksAs val="span"/>
  </c:chart>
  <c:spPr>
    <a:solidFill>
      <a:srgbClr val="0D3B2E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NOI</c:v>
                </c:pt>
              </c:strCache>
            </c:strRef>
          </c:tx>
          <c:spPr>
            <a:solidFill>
              <a:srgbClr val="1F7A5C"/>
            </a:solidFill>
            <a:effectLst/>
          </c:spPr>
          <c:invertIfNegative val="0"/>
          <c:dLbls>
            <c:numFmt formatCode="$#,##0&quot;K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320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7A5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9E7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9E7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9E7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E9E7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873</c:v>
                </c:pt>
                <c:pt idx="1">
                  <c:v>1060</c:v>
                </c:pt>
                <c:pt idx="2">
                  <c:v>1108</c:v>
                </c:pt>
                <c:pt idx="3">
                  <c:v>1142</c:v>
                </c:pt>
                <c:pt idx="4">
                  <c:v>1171</c:v>
                </c:pt>
              </c:numCache>
            </c:numRef>
          </c:val>
        </c:ser>
        <c:dLbls>
          <c:numFmt formatCode="$#,##0&quot;K&quot;" sourceLinked="0"/>
          <c:txPr>
            <a:bodyPr/>
            <a:lstStyle/>
            <a:p>
              <a:pPr>
                <a:defRPr b="0" i="0" strike="noStrike" sz="800" u="none">
                  <a:solidFill>
                    <a:srgbClr val="1320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F72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50"/>
          <c:min val="0"/>
        </c:scaling>
        <c:delete val="1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Yield on cost</c:v>
                </c:pt>
              </c:strCache>
            </c:strRef>
          </c:tx>
          <c:spPr>
            <a:solidFill>
              <a:srgbClr val="1F7A5C"/>
            </a:solidFill>
            <a:ln w="34925" cap="flat">
              <a:solidFill>
                <a:srgbClr val="1F7A5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7A5C"/>
              </a:solidFill>
              <a:ln w="9525" cap="flat">
                <a:solidFill>
                  <a:srgbClr val="1F7A5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0.0586</c:v>
                </c:pt>
                <c:pt idx="1">
                  <c:v>0.0711</c:v>
                </c:pt>
                <c:pt idx="2">
                  <c:v>0.0744</c:v>
                </c:pt>
                <c:pt idx="3">
                  <c:v>0.0767</c:v>
                </c:pt>
                <c:pt idx="4">
                  <c:v>0.0786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Exit cap 6.75%</c:v>
                </c:pt>
              </c:strCache>
            </c:strRef>
          </c:tx>
          <c:spPr>
            <a:solidFill>
              <a:srgbClr val="C9A227"/>
            </a:solidFill>
            <a:ln w="19050" cap="flat">
              <a:solidFill>
                <a:srgbClr val="C9A227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A227"/>
              </a:solidFill>
              <a:ln w="9525" cap="flat">
                <a:solidFill>
                  <a:srgbClr val="C9A22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0.0675</c:v>
                </c:pt>
                <c:pt idx="1">
                  <c:v>0.0675</c:v>
                </c:pt>
                <c:pt idx="2">
                  <c:v>0.0675</c:v>
                </c:pt>
                <c:pt idx="3">
                  <c:v>0.0675</c:v>
                </c:pt>
                <c:pt idx="4">
                  <c:v>0.0675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F72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85"/>
          <c:min val="0.05"/>
        </c:scaling>
        <c:delete val="0"/>
        <c:axPos val="l"/>
        <c:majorGridlines>
          <c:spPr>
            <a:ln w="6350" cap="flat">
              <a:solidFill>
                <a:srgbClr val="EAEFEB"/>
              </a:solidFill>
              <a:prstDash val="solid"/>
              <a:round/>
            </a:ln>
          </c:spPr>
        </c:majorGridlines>
        <c:numFmt formatCode="0.0%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F72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01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Track A — in place</c:v>
                </c:pt>
              </c:strCache>
            </c:strRef>
          </c:tx>
          <c:spPr>
            <a:solidFill>
              <a:srgbClr val="1F7A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53</c:v>
                </c:pt>
                <c:pt idx="7">
                  <c:v>53</c:v>
                </c:pt>
                <c:pt idx="8">
                  <c:v>53</c:v>
                </c:pt>
                <c:pt idx="9">
                  <c:v>53</c:v>
                </c:pt>
                <c:pt idx="10">
                  <c:v>53</c:v>
                </c:pt>
                <c:pt idx="11">
                  <c:v>53</c:v>
                </c:pt>
                <c:pt idx="12">
                  <c:v>53</c:v>
                </c:pt>
                <c:pt idx="13">
                  <c:v>53</c:v>
                </c:pt>
                <c:pt idx="14">
                  <c:v>53</c:v>
                </c:pt>
                <c:pt idx="15">
                  <c:v>53</c:v>
                </c:pt>
                <c:pt idx="16">
                  <c:v>53</c:v>
                </c:pt>
                <c:pt idx="17">
                  <c:v>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Track B — vacant + laundry</c:v>
                </c:pt>
              </c:strCache>
            </c:strRef>
          </c:tx>
          <c:spPr>
            <a:solidFill>
              <a:srgbClr val="BFE0C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5</c:v>
                </c:pt>
                <c:pt idx="4">
                  <c:v>10</c:v>
                </c:pt>
                <c:pt idx="5">
                  <c:v>15</c:v>
                </c:pt>
                <c:pt idx="6">
                  <c:v>20</c:v>
                </c:pt>
                <c:pt idx="7">
                  <c:v>25</c:v>
                </c:pt>
                <c:pt idx="8">
                  <c:v>30</c:v>
                </c:pt>
                <c:pt idx="9">
                  <c:v>35</c:v>
                </c:pt>
                <c:pt idx="10">
                  <c:v>40</c:v>
                </c:pt>
                <c:pt idx="11">
                  <c:v>45</c:v>
                </c:pt>
                <c:pt idx="12">
                  <c:v>50</c:v>
                </c:pt>
                <c:pt idx="13">
                  <c:v>55</c:v>
                </c:pt>
                <c:pt idx="14">
                  <c:v>60</c:v>
                </c:pt>
                <c:pt idx="15">
                  <c:v>65</c:v>
                </c:pt>
                <c:pt idx="16">
                  <c:v>65</c:v>
                </c:pt>
                <c:pt idx="17">
                  <c:v>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F72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8"/>
          <c:min val="0"/>
        </c:scaling>
        <c:delete val="0"/>
        <c:axPos val="l"/>
        <c:majorGridlines>
          <c:spPr>
            <a:ln w="6350" cap="flat">
              <a:solidFill>
                <a:srgbClr val="EAEFEB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F72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59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upside</c:v>
                </c:pt>
              </c:strCache>
            </c:strRef>
          </c:tx>
          <c:spPr>
            <a:solidFill>
              <a:srgbClr val="BFE0CD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320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Renovation cost $20.0K → $11.0K</c:v>
                  </c:pt>
                  <c:pt idx="1">
                    <c:v>Renovation premium $100 → $190 /mo</c:v>
                  </c:pt>
                  <c:pt idx="2">
                    <c:v>Year-5 tax bill $294K → $137K</c:v>
                  </c:pt>
                  <c:pt idx="3">
                    <c:v>Exit cap 7.50% → 6.25%</c:v>
                  </c:pt>
                  <c:pt idx="4">
                    <c:v>Market rent growth 1.0% → 3.5% flat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0.1566</c:v>
                </c:pt>
                <c:pt idx="1">
                  <c:v>0.1623</c:v>
                </c:pt>
                <c:pt idx="2">
                  <c:v>0.1504</c:v>
                </c:pt>
                <c:pt idx="3">
                  <c:v>0.1715</c:v>
                </c:pt>
                <c:pt idx="4">
                  <c:v>0.1873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downside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320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Renovation cost $20.0K → $11.0K</c:v>
                  </c:pt>
                  <c:pt idx="1">
                    <c:v>Renovation premium $100 → $190 /mo</c:v>
                  </c:pt>
                  <c:pt idx="2">
                    <c:v>Year-5 tax bill $294K → $137K</c:v>
                  </c:pt>
                  <c:pt idx="3">
                    <c:v>Exit cap 7.50% → 6.25%</c:v>
                  </c:pt>
                  <c:pt idx="4">
                    <c:v>Market rent growth 1.0% → 3.5% flat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0.1135</c:v>
                </c:pt>
                <c:pt idx="1">
                  <c:v>0.102</c:v>
                </c:pt>
                <c:pt idx="2">
                  <c:v>0.0738</c:v>
                </c:pt>
                <c:pt idx="3">
                  <c:v>0.095</c:v>
                </c:pt>
                <c:pt idx="4">
                  <c:v>0.0714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850" u="none">
                  <a:solidFill>
                    <a:srgbClr val="1320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320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"/>
          <c:min val="0.04"/>
        </c:scaling>
        <c:delete val="1"/>
        <c:axPos val="b"/>
        <c:numFmt formatCode="General" sourceLinked="0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Capital</c:v>
                </c:pt>
              </c:strCache>
            </c:strRef>
          </c:tx>
          <c:spPr>
            <a:solidFill>
              <a:srgbClr val="1F7A5C"/>
            </a:solidFill>
            <a:effectLst/>
          </c:spPr>
          <c:invertIfNegative val="0"/>
          <c:dLbls>
            <c:numFmt formatCode="$#,##0&quot;K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320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7A5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9E7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FE0C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Unit renovation
118 units</c:v>
                  </c:pt>
                  <c:pt idx="1">
                    <c:v>Non-unit capital
roof, drains, amenity</c:v>
                  </c:pt>
                  <c:pt idx="2">
                    <c:v>Contingency
8%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1700</c:v>
                </c:pt>
                <c:pt idx="1">
                  <c:v>985</c:v>
                </c:pt>
                <c:pt idx="2">
                  <c:v>215</c:v>
                </c:pt>
              </c:numCache>
            </c:numRef>
          </c:val>
        </c:ser>
        <c:dLbls>
          <c:numFmt formatCode="$#,##0&quot;K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320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F72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00"/>
          <c:min val="0"/>
        </c:scaling>
        <c:delete val="1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Cash-on-cash</c:v>
                </c:pt>
              </c:strCache>
            </c:strRef>
          </c:tx>
          <c:spPr>
            <a:solidFill>
              <a:srgbClr val="BFE0CD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320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FE0C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9E7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9E7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9E7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F7A5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0.0485</c:v>
                </c:pt>
                <c:pt idx="1">
                  <c:v>0.0817</c:v>
                </c:pt>
                <c:pt idx="2">
                  <c:v>0.0901</c:v>
                </c:pt>
                <c:pt idx="3">
                  <c:v>0.0961</c:v>
                </c:pt>
                <c:pt idx="4">
                  <c:v>0.101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1320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2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5"/>
          <c:min val="0"/>
        </c:scaling>
        <c:delete val="1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rental income</c:v>
                </c:pt>
              </c:strCache>
            </c:strRef>
          </c:tx>
          <c:spPr>
            <a:solidFill>
              <a:srgbClr val="1F7A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1688</c:v>
                </c:pt>
                <c:pt idx="1">
                  <c:v>1889</c:v>
                </c:pt>
                <c:pt idx="2">
                  <c:v>1966</c:v>
                </c:pt>
                <c:pt idx="3">
                  <c:v>2031</c:v>
                </c:pt>
                <c:pt idx="4">
                  <c:v>2092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income</c:v>
                </c:pt>
              </c:strCache>
            </c:strRef>
          </c:tx>
          <c:spPr>
            <a:solidFill>
              <a:srgbClr val="BFE0C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238</c:v>
                </c:pt>
                <c:pt idx="1">
                  <c:v>269</c:v>
                </c:pt>
                <c:pt idx="2">
                  <c:v>279</c:v>
                </c:pt>
                <c:pt idx="3">
                  <c:v>289</c:v>
                </c:pt>
                <c:pt idx="4">
                  <c:v>298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72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"/>
          <c:min val="0"/>
        </c:scaling>
        <c:delete val="0"/>
        <c:axPos val="l"/>
        <c:majorGridlines>
          <c:spPr>
            <a:ln w="6350" cap="flat">
              <a:solidFill>
                <a:srgbClr val="EAEFEB"/>
              </a:solidFill>
              <a:prstDash val="solid"/>
              <a:round/>
            </a:ln>
          </c:spPr>
        </c:majorGridlines>
        <c:numFmt formatCode="$#,##0&quot;K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F72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was not handed a price — it solves for one. $12.0mm is the highest basis at which this plan clears 14% and 1.80x on rent growth taken from 1Q-26 actuals. It traded 12% above that on 12 June 2026. Conservative on what we do not control (rent growth, exit cap, taxes evidenced against 25 years of assessment record); confident on what we do (renovation premium, pace, ancillary income).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tornado from the top: the only bar that breaks the deal is the one we do not control. Rent growth at a flat 1.0% takes it to 7.1%; at 3.5% it is 18.7%. Everything we do control — premium, cost, pace — moves it by roughly 5 points either way, which is exactly why the bid, not the business plan, is the decision in front of the committee.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4" Type="http://schemas.openxmlformats.org/officeDocument/2006/relationships/chart" Target="/ppt/charts/chart5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3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5603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Chateau in the Woods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29768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C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 Units  ·  4020 Monaco Drive, Indianapolis, IN 46220  ·  Built 1974  ·  134,371 SF  ·  96.6% occupied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052560" y="292608"/>
            <a:ext cx="2724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COMMITTEE</a:t>
            </a:r>
            <a:endParaRPr lang="en-US" sz="1100" dirty="0"/>
          </a:p>
          <a:p>
            <a:pPr algn="r" indent="0" marL="0">
              <a:buNone/>
            </a:pPr>
            <a:r>
              <a:rPr lang="en-US" sz="950" dirty="0">
                <a:solidFill>
                  <a:srgbClr val="8FC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 ·  Value-Add Acquisition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051560"/>
            <a:ext cx="11365992" cy="676656"/>
          </a:xfrm>
          <a:prstGeom prst="roundRect">
            <a:avLst>
              <a:gd name="adj" fmla="val 8108"/>
            </a:avLst>
          </a:prstGeom>
          <a:solidFill>
            <a:srgbClr val="C9A227"/>
          </a:solidFill>
          <a:ln/>
          <a:effectLst>
            <a:outerShdw sx="100000" sy="100000" kx="0" ky="0" algn="bl" rotWithShape="0" blurRad="101600" dist="25400" dir="5400000">
              <a:srgbClr val="081E1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1051560"/>
            <a:ext cx="6583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0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BID $12,000,000.  </a:t>
            </a:r>
            <a:pPr indent="0" marL="0">
              <a:buNone/>
            </a:pPr>
            <a:r>
              <a:rPr lang="en-US" sz="1550" dirty="0">
                <a:solidFill>
                  <a:srgbClr val="2A20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is the only variable we control.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269480" y="1051560"/>
            <a:ext cx="4297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A20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traded at $13,625,000 — 12% above us.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1874520"/>
            <a:ext cx="2130552" cy="896112"/>
          </a:xfrm>
          <a:prstGeom prst="roundRect">
            <a:avLst>
              <a:gd name="adj" fmla="val 5102"/>
            </a:avLst>
          </a:prstGeom>
          <a:solidFill>
            <a:srgbClr val="164C3A"/>
          </a:solidFill>
          <a:ln/>
        </p:spPr>
      </p:sp>
      <p:sp>
        <p:nvSpPr>
          <p:cNvPr id="10" name="Text 8"/>
          <p:cNvSpPr/>
          <p:nvPr/>
        </p:nvSpPr>
        <p:spPr>
          <a:xfrm>
            <a:off x="557784" y="194767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FC9A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14.0% / 1.81x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57784" y="2313432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C9D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Levered IRR / multiple at our bid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88336" y="1874520"/>
            <a:ext cx="2130552" cy="896112"/>
          </a:xfrm>
          <a:prstGeom prst="roundRect">
            <a:avLst>
              <a:gd name="adj" fmla="val 5102"/>
            </a:avLst>
          </a:prstGeom>
          <a:solidFill>
            <a:srgbClr val="164C3A"/>
          </a:solidFill>
          <a:ln/>
        </p:spPr>
      </p:sp>
      <p:sp>
        <p:nvSpPr>
          <p:cNvPr id="13" name="Text 11"/>
          <p:cNvSpPr/>
          <p:nvPr/>
        </p:nvSpPr>
        <p:spPr>
          <a:xfrm>
            <a:off x="2834640" y="194767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FC9A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+111 bps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2834640" y="2313432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C9D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Year-5 yield on cost over the 6.75% exit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965192" y="1874520"/>
            <a:ext cx="2130552" cy="896112"/>
          </a:xfrm>
          <a:prstGeom prst="roundRect">
            <a:avLst>
              <a:gd name="adj" fmla="val 5102"/>
            </a:avLst>
          </a:prstGeom>
          <a:solidFill>
            <a:srgbClr val="164C3A"/>
          </a:solidFill>
          <a:ln/>
        </p:spPr>
      </p:sp>
      <p:sp>
        <p:nvSpPr>
          <p:cNvPr id="16" name="Text 14"/>
          <p:cNvSpPr/>
          <p:nvPr/>
        </p:nvSpPr>
        <p:spPr>
          <a:xfrm>
            <a:off x="5111496" y="194767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FC9A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12.9%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5111496" y="2313432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C9D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renovation cost, $14,407/unit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242048" y="1874520"/>
            <a:ext cx="2130552" cy="896112"/>
          </a:xfrm>
          <a:prstGeom prst="roundRect">
            <a:avLst>
              <a:gd name="adj" fmla="val 5102"/>
            </a:avLst>
          </a:prstGeom>
          <a:solidFill>
            <a:srgbClr val="164C3A"/>
          </a:solidFill>
          <a:ln/>
        </p:spPr>
      </p:sp>
      <p:sp>
        <p:nvSpPr>
          <p:cNvPr id="19" name="Text 17"/>
          <p:cNvSpPr/>
          <p:nvPr/>
        </p:nvSpPr>
        <p:spPr>
          <a:xfrm>
            <a:off x="7388352" y="194767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FC9A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months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7388352" y="2313432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C9D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118 units renovated, nobody displaced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9518904" y="1874520"/>
            <a:ext cx="2130552" cy="896112"/>
          </a:xfrm>
          <a:prstGeom prst="roundRect">
            <a:avLst>
              <a:gd name="adj" fmla="val 5102"/>
            </a:avLst>
          </a:prstGeom>
          <a:solidFill>
            <a:srgbClr val="164C3A"/>
          </a:solidFill>
          <a:ln/>
        </p:spPr>
      </p:sp>
      <p:sp>
        <p:nvSpPr>
          <p:cNvPr id="22" name="Text 20"/>
          <p:cNvSpPr/>
          <p:nvPr/>
        </p:nvSpPr>
        <p:spPr>
          <a:xfrm>
            <a:off x="9665208" y="194767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3A6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7.9% / 1.42x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9665208" y="2313432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C9D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plan at the $13.625mm trade price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11480" y="2962656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Levered IRR by purchase price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11480" y="3200400"/>
            <a:ext cx="6766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C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Five-year hold · 6.75% exit cap held constant · every bar is a live cash flow, not an interpolation</a:t>
            </a:r>
            <a:endParaRPr lang="en-US" sz="8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274320" y="3401568"/>
          <a:ext cx="69037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11480" y="6309360"/>
            <a:ext cx="6766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FC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line = 14% hurdle.  Cleared at or below $12.0mm.  Red = the actual trade and above.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7452360" y="2962656"/>
            <a:ext cx="4325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bid vs. the trade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452360" y="3200400"/>
            <a:ext cx="4325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C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business plan, identical NOI — only the basis changes</a:t>
            </a:r>
            <a:endParaRPr lang="en-US" sz="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2360" y="3438144"/>
          <a:ext cx="4325112" cy="914400"/>
        </p:xfrm>
        <a:graphic>
          <a:graphicData uri="http://schemas.openxmlformats.org/drawingml/2006/table">
            <a:tbl>
              <a:tblPr/>
              <a:tblGrid>
                <a:gridCol w="2112264"/>
                <a:gridCol w="1133856"/>
                <a:gridCol w="1078992"/>
              </a:tblGrid>
              <a:tr h="21762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 to Jul-31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bid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$12.0mm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$13.625mm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5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per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$101,695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FC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$115,466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Going-in cap 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FC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All-in basis per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$126,269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FC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$140,041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Sponsor equity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$5.59mm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FC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$6.20mm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Year-1 NOI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$873K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FC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$873K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Year-5 NOI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$1,171K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FC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$1,171K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Year-5 yield on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FC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Spread over 6.75% exit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+111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FC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+34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cash-on-cash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FC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Unlevered IRR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FC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Levered IRR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8FC9A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A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multiple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8FC9A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A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1.42x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</a:tr>
            </a:tbl>
          </a:graphicData>
        </a:graphic>
      </p:graphicFrame>
      <p:sp>
        <p:nvSpPr>
          <p:cNvPr id="31" name="Text 27"/>
          <p:cNvSpPr/>
          <p:nvPr/>
        </p:nvSpPr>
        <p:spPr>
          <a:xfrm>
            <a:off x="411480" y="6547104"/>
            <a:ext cx="11365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C8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 roll 07/01/2026 · T-12 Feb-25 to Jan-26 · CBRE OM 09/10/2025 · Yardi Matrix Indianapolis 1Q-2026 · Marion County parcel 8000002. Rent growth set off 1Q-26 ACTUALS, not a forecast. Debt 65% LTC / 8.0% min debt yield / 1.25x DSCR / 5.85% interest-only.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value comes from — and what moves it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595360" y="310896"/>
            <a:ext cx="3182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Chateau in the Woods  ·  118 Units  ·  Indianapolis, IN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813816"/>
            <a:ext cx="50292" cy="182880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6" name="Text 4"/>
          <p:cNvSpPr/>
          <p:nvPr/>
        </p:nvSpPr>
        <p:spPr>
          <a:xfrm>
            <a:off x="539496" y="758952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NOI grows 34% in five years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39496" y="969264"/>
            <a:ext cx="3547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$873K in Year 1 → $1,171K in Year 5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46888" y="1207008"/>
          <a:ext cx="3931920" cy="170078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261104" y="813816"/>
            <a:ext cx="50292" cy="182880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10" name="Text 7"/>
          <p:cNvSpPr/>
          <p:nvPr/>
        </p:nvSpPr>
        <p:spPr>
          <a:xfrm>
            <a:off x="4389120" y="758952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Yield on cost clears the exit cap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389120" y="969264"/>
            <a:ext cx="3547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value-add test: 7.86% vs 6.75% = +111 bps</a:t>
            </a:r>
            <a:endParaRPr lang="en-US" sz="80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4096512" y="1207008"/>
          <a:ext cx="3931920" cy="170078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/>
          <p:nvPr/>
        </p:nvSpPr>
        <p:spPr>
          <a:xfrm>
            <a:off x="4261104" y="2889504"/>
            <a:ext cx="3675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= yield on cost   ·   dashed = 6.75% exit cap</a:t>
            </a:r>
            <a:endParaRPr lang="en-US" sz="750" dirty="0"/>
          </a:p>
        </p:txBody>
      </p:sp>
      <p:sp>
        <p:nvSpPr>
          <p:cNvPr id="14" name="Shape 10"/>
          <p:cNvSpPr/>
          <p:nvPr/>
        </p:nvSpPr>
        <p:spPr>
          <a:xfrm>
            <a:off x="8110728" y="813816"/>
            <a:ext cx="50292" cy="182880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15" name="Text 11"/>
          <p:cNvSpPr/>
          <p:nvPr/>
        </p:nvSpPr>
        <p:spPr>
          <a:xfrm>
            <a:off x="8238744" y="758952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tracks, done in month 16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8238744" y="969264"/>
            <a:ext cx="3547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units renovated, by month</a:t>
            </a:r>
            <a:endParaRPr lang="en-US" sz="800" dirty="0"/>
          </a:p>
        </p:txBody>
      </p:sp>
      <p:graphicFrame>
        <p:nvGraphicFramePr>
          <p:cNvPr id="17" name="Chart 2" descr=""/>
          <p:cNvGraphicFramePr/>
          <p:nvPr/>
        </p:nvGraphicFramePr>
        <p:xfrm>
          <a:off x="7946136" y="1207008"/>
          <a:ext cx="3931920" cy="170078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8" name="Text 13"/>
          <p:cNvSpPr/>
          <p:nvPr/>
        </p:nvSpPr>
        <p:spPr>
          <a:xfrm>
            <a:off x="8110728" y="2889504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50" i="1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= 53 units renovated in place (no permit, no vacancy loss)   ·   pale = 65 units taken vacant to add laundry</a:t>
            </a:r>
            <a:endParaRPr lang="en-US" sz="750" dirty="0"/>
          </a:p>
        </p:txBody>
      </p:sp>
      <p:sp>
        <p:nvSpPr>
          <p:cNvPr id="19" name="Shape 14"/>
          <p:cNvSpPr/>
          <p:nvPr/>
        </p:nvSpPr>
        <p:spPr>
          <a:xfrm>
            <a:off x="411480" y="3282696"/>
            <a:ext cx="50292" cy="182880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20" name="Text 15"/>
          <p:cNvSpPr/>
          <p:nvPr/>
        </p:nvSpPr>
        <p:spPr>
          <a:xfrm>
            <a:off x="539496" y="3227832"/>
            <a:ext cx="7187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moves the 14.0% — breakeven ladders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539496" y="3438144"/>
            <a:ext cx="7187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Levered IRR at our $12.0mm bid. Each bar spans the full range tested in the model; the left number is the downside, the right the upside.</a:t>
            </a:r>
            <a:endParaRPr lang="en-US" sz="800" dirty="0"/>
          </a:p>
        </p:txBody>
      </p:sp>
      <p:graphicFrame>
        <p:nvGraphicFramePr>
          <p:cNvPr id="22" name="Chart 3" descr=""/>
          <p:cNvGraphicFramePr/>
          <p:nvPr/>
        </p:nvGraphicFramePr>
        <p:xfrm>
          <a:off x="182880" y="3767328"/>
          <a:ext cx="11841480" cy="20848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3" name="Shape 17"/>
          <p:cNvSpPr/>
          <p:nvPr/>
        </p:nvSpPr>
        <p:spPr>
          <a:xfrm>
            <a:off x="411480" y="5925312"/>
            <a:ext cx="11365992" cy="713232"/>
          </a:xfrm>
          <a:prstGeom prst="roundRect">
            <a:avLst>
              <a:gd name="adj" fmla="val 6410"/>
            </a:avLst>
          </a:prstGeom>
          <a:solidFill>
            <a:srgbClr val="0D3B2E"/>
          </a:solidFill>
          <a:ln/>
          <a:effectLst>
            <a:outerShdw sx="100000" sy="100000" kx="0" ky="0" algn="bl" rotWithShape="0" blurRad="101600" dist="25400" dir="5400000">
              <a:srgbClr val="081E16">
                <a:alpha val="18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658368" y="599846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FC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874520" y="5980176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DDE8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 growth, not renovation, is the deal. Every controllable driver holds the IRR inside 11–16%; the market alone swings it 7% to 19%. Yardi has metro rents flat on a trailing-three-month basis and 2025 starts more than doubled — so we underwrite 1.5% to 3.0% and let the price absorb the difference.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1945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A  ·  The business plan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0" y="310896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$2.90mm of capital · $24,575 per unit · 16 months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813816"/>
            <a:ext cx="50292" cy="182880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6" name="Text 4"/>
          <p:cNvSpPr/>
          <p:nvPr/>
        </p:nvSpPr>
        <p:spPr>
          <a:xfrm>
            <a:off x="539496" y="758952"/>
            <a:ext cx="6638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tracks, chosen by what each unit needs</a:t>
            </a:r>
            <a:endParaRPr lang="en-US" sz="11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33856"/>
          <a:ext cx="676656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560320"/>
                <a:gridCol w="2514600"/>
              </a:tblGrid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 A — in place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 B — vacant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5C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 (laundry already in unit)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 (laundry to be added)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 impact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resident stays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turnover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cosmetic scope exempt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CDR, then Marion County DBNS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/ pace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2 / 10 per month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4 / 5 per month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per unit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$13,000 + $5,000 laundry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 premium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 / month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 / month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captured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renewal — 6-month lag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Immediately, on the new lease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Downtime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incremental days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3401568"/>
            <a:ext cx="6766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13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$14,407 per unit buys a $155 per month premium — a 12.9% return on cost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against a 6.75% exit. A single-track plan at 5 units a month would take 27 months; running the 53 in place in parallel finishes in 16 without forcing a single resident out.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543800" y="813816"/>
            <a:ext cx="50292" cy="182880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10" name="Text 7"/>
          <p:cNvSpPr/>
          <p:nvPr/>
        </p:nvSpPr>
        <p:spPr>
          <a:xfrm>
            <a:off x="7671816" y="758952"/>
            <a:ext cx="4105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$2.90mm goes</a:t>
            </a:r>
            <a:endParaRPr lang="en-US" sz="115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406640" y="1133856"/>
          <a:ext cx="448056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8"/>
          <p:cNvSpPr/>
          <p:nvPr/>
        </p:nvSpPr>
        <p:spPr>
          <a:xfrm>
            <a:off x="411480" y="4050792"/>
            <a:ext cx="50292" cy="182880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13" name="Text 9"/>
          <p:cNvSpPr/>
          <p:nvPr/>
        </p:nvSpPr>
        <p:spPr>
          <a:xfrm>
            <a:off x="539496" y="3995928"/>
            <a:ext cx="5266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Levered cash-on-cash by year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539496" y="4206240"/>
            <a:ext cx="5266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Interest-only debt · reserves $300/unit · at our $12.0mm bid</a:t>
            </a:r>
            <a:endParaRPr lang="en-US" sz="8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274320" y="4480560"/>
          <a:ext cx="553212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 11"/>
          <p:cNvSpPr/>
          <p:nvPr/>
        </p:nvSpPr>
        <p:spPr>
          <a:xfrm>
            <a:off x="411480" y="638251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i="1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carries the renovation downtime and the ramp on ancillary income; the plan is stabilised from Year 2. Average 8.4%.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6263640" y="4050792"/>
            <a:ext cx="50292" cy="182880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18" name="Text 13"/>
          <p:cNvSpPr/>
          <p:nvPr/>
        </p:nvSpPr>
        <p:spPr>
          <a:xfrm>
            <a:off x="6391656" y="3995928"/>
            <a:ext cx="5385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Effective gross revenue build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6391656" y="4206240"/>
            <a:ext cx="5385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$1.93mm in Year 1 → $2.39mm in Year 5</a:t>
            </a:r>
            <a:endParaRPr lang="en-US" sz="800" dirty="0"/>
          </a:p>
        </p:txBody>
      </p:sp>
      <p:graphicFrame>
        <p:nvGraphicFramePr>
          <p:cNvPr id="20" name="Chart 2" descr=""/>
          <p:cNvGraphicFramePr/>
          <p:nvPr/>
        </p:nvGraphicFramePr>
        <p:xfrm>
          <a:off x="6126480" y="4480560"/>
          <a:ext cx="5788152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 15"/>
          <p:cNvSpPr/>
          <p:nvPr/>
        </p:nvSpPr>
        <p:spPr>
          <a:xfrm>
            <a:off x="6263640" y="6382512"/>
            <a:ext cx="551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i="1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= net rental income after loss to lease, vacancy, concessions and bad debt.  Pale = other income — RUBS, technology fee, valet trash, new pet rent, carports and fees.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1945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B  ·  Opportunities and risks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0" y="310896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effect on levered IRR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749808"/>
            <a:ext cx="5623560" cy="384048"/>
          </a:xfrm>
          <a:prstGeom prst="roundRect">
            <a:avLst>
              <a:gd name="adj" fmla="val 9524"/>
            </a:avLst>
          </a:prstGeom>
          <a:solidFill>
            <a:srgbClr val="1F7A5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749808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Key opportunities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243584"/>
            <a:ext cx="5349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spcAft>
                <a:spcPts val="900"/>
              </a:spcAft>
              <a:buNone/>
            </a:pPr>
            <a:r>
              <a:rPr lang="en-US" sz="100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Two-track renovation, 16 months.  </a:t>
            </a:r>
            <a:pPr indent="0" marL="0">
              <a:lnSpc>
                <a:spcPts val="125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53 units with laundry go in place at 10 a month from month 2 — no permit, no vacancy loss. The 65 needing laundry follow natural turnover. All 118 complete in month 16 without displacing a resident.</a:t>
            </a:r>
            <a:endParaRPr lang="en-US" sz="1000" dirty="0"/>
          </a:p>
          <a:p>
            <a:pPr indent="0" marL="0">
              <a:lnSpc>
                <a:spcPts val="1250"/>
              </a:lnSpc>
              <a:spcAft>
                <a:spcPts val="900"/>
              </a:spcAft>
              <a:buNone/>
            </a:pPr>
            <a:r>
              <a:rPr lang="en-US" sz="100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In-unit laundry, all 118 units.  </a:t>
            </a:r>
            <a:pPr indent="0" marL="0">
              <a:lnSpc>
                <a:spcPts val="125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units lack it. At the case's $5,000 per unit it is the highest-return item in the plan. The rent roll shows 53 units with machines, not the OM's 78.</a:t>
            </a:r>
            <a:endParaRPr lang="en-US" sz="1000" dirty="0"/>
          </a:p>
          <a:p>
            <a:pPr indent="0" marL="0">
              <a:lnSpc>
                <a:spcPts val="1250"/>
              </a:lnSpc>
              <a:spcAft>
                <a:spcPts val="900"/>
              </a:spcAft>
              <a:buNone/>
            </a:pPr>
            <a:r>
              <a:rPr lang="en-US" sz="100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12.9% return on renovation cost.  </a:t>
            </a:r>
            <a:pPr indent="0" marL="0">
              <a:lnSpc>
                <a:spcPts val="125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$14,407 per unit for a $155 monthly premium against a 6.75% exit; Year-5 yield on cost of 7.86% sits 111 bps above it.</a:t>
            </a:r>
            <a:endParaRPr lang="en-US" sz="1000" dirty="0"/>
          </a:p>
          <a:p>
            <a:pPr indent="0" marL="0">
              <a:lnSpc>
                <a:spcPts val="1250"/>
              </a:lnSpc>
              <a:spcAft>
                <a:spcPts val="900"/>
              </a:spcAft>
              <a:buNone/>
            </a:pPr>
            <a:r>
              <a:rPr lang="en-US" sz="100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Taxes are lower than they look.  </a:t>
            </a:r>
            <a:pPr indent="0" marL="0">
              <a:lnSpc>
                <a:spcPts val="125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Marion County parcel 8000002 paid $129,648 in 2025. Assessed value has been range-bound $5.1–6.6mm since 2012 and last changed March 2022; the 2006 sale did not reset it. Today's AV is 41% of the 2026 trade price.</a:t>
            </a:r>
            <a:endParaRPr lang="en-US" sz="1000" dirty="0"/>
          </a:p>
          <a:p>
            <a:pPr indent="0" marL="0">
              <a:lnSpc>
                <a:spcPts val="1250"/>
              </a:lnSpc>
              <a:spcAft>
                <a:spcPts val="900"/>
              </a:spcAft>
              <a:buNone/>
            </a:pPr>
            <a:r>
              <a:rPr lang="en-US" sz="100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Under-collected ancillary income.  </a:t>
            </a:r>
            <a:pPr indent="0" marL="0">
              <a:lnSpc>
                <a:spcPts val="125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$49 technology fee is roughly 60% penetrated, the $25 valet trash charge is not billed although the property starts paying for it in Jan-26, and there is no pet rent — about $110K a year of run-rate.</a:t>
            </a:r>
            <a:endParaRPr lang="en-US" sz="1000" dirty="0"/>
          </a:p>
          <a:p>
            <a:pPr indent="0" marL="0">
              <a:lnSpc>
                <a:spcPts val="1250"/>
              </a:lnSpc>
              <a:spcAft>
                <a:spcPts val="900"/>
              </a:spcAft>
              <a:buNone/>
            </a:pPr>
            <a:r>
              <a:rPr lang="en-US" sz="100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slack.  </a:t>
            </a:r>
            <a:pPr indent="0" marL="0">
              <a:lnSpc>
                <a:spcPts val="125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2.2% loss to lease and 6.8% trailing physical vacancy against a 5.5% stabilised target.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09360" y="749808"/>
            <a:ext cx="5623560" cy="384048"/>
          </a:xfrm>
          <a:prstGeom prst="roundRect">
            <a:avLst>
              <a:gd name="adj" fmla="val 9524"/>
            </a:avLst>
          </a:prstGeom>
          <a:solidFill>
            <a:srgbClr val="9E2B25"/>
          </a:solidFill>
          <a:ln/>
        </p:spPr>
      </p:sp>
      <p:sp>
        <p:nvSpPr>
          <p:cNvPr id="9" name="Text 7"/>
          <p:cNvSpPr/>
          <p:nvPr/>
        </p:nvSpPr>
        <p:spPr>
          <a:xfrm>
            <a:off x="6446520" y="749808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Key risks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46520" y="1243584"/>
            <a:ext cx="5349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spcAft>
                <a:spcPts val="900"/>
              </a:spcAft>
              <a:buNone/>
            </a:pPr>
            <a:r>
              <a:rPr lang="en-US" sz="1000" b="1" dirty="0">
                <a:solidFill>
                  <a:srgbClr val="9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 growth. The dominant variable.  </a:t>
            </a:r>
            <a:pPr indent="0" marL="0">
              <a:lnSpc>
                <a:spcPts val="125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 rents flat on a trailing-three-month basis and +1.1% year over year in 1Q-26, with 2025 starts more than doubled — delivering 2027-28, inside our hold, and Carmel taking over half of 2026 deliveries just north of us. At a flat 1.0% the deal returns 7.1%; at 3.0%, 16.7%.</a:t>
            </a:r>
            <a:endParaRPr lang="en-US" sz="1000" dirty="0"/>
          </a:p>
          <a:p>
            <a:pPr indent="0" marL="0">
              <a:lnSpc>
                <a:spcPts val="1250"/>
              </a:lnSpc>
              <a:spcAft>
                <a:spcPts val="900"/>
              </a:spcAft>
              <a:buNone/>
            </a:pPr>
            <a:r>
              <a:rPr lang="en-US" sz="1000" b="1" dirty="0">
                <a:solidFill>
                  <a:srgbClr val="9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Basis. We were outbid by 12%.  </a:t>
            </a:r>
            <a:pPr indent="0" marL="0">
              <a:lnSpc>
                <a:spcPts val="125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traded at $13,625,000. At that price the same plan returns 7.9% and 1.42x, and the yield-on-cost spread over the exit collapses from 111 bps to 34 bps.</a:t>
            </a:r>
            <a:endParaRPr lang="en-US" sz="1000" dirty="0"/>
          </a:p>
          <a:p>
            <a:pPr indent="0" marL="0">
              <a:lnSpc>
                <a:spcPts val="1250"/>
              </a:lnSpc>
              <a:spcAft>
                <a:spcPts val="900"/>
              </a:spcAft>
              <a:buNone/>
            </a:pPr>
            <a:r>
              <a:rPr lang="en-US" sz="1000" b="1" dirty="0">
                <a:solidFill>
                  <a:srgbClr val="9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reassessment.  </a:t>
            </a:r>
            <a:pPr indent="0" marL="0">
              <a:lnSpc>
                <a:spcPts val="125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 grows the actual bill 4% a year. If assessed value reset to 69% of the trade price the Year-5 bill is $238,700 and the IRR falls to 10.3%. The record says it will not, but Ladder C prices it.</a:t>
            </a:r>
            <a:endParaRPr lang="en-US" sz="1000" dirty="0"/>
          </a:p>
          <a:p>
            <a:pPr indent="0" marL="0">
              <a:lnSpc>
                <a:spcPts val="1250"/>
              </a:lnSpc>
              <a:spcAft>
                <a:spcPts val="900"/>
              </a:spcAft>
              <a:buNone/>
            </a:pPr>
            <a:r>
              <a:rPr lang="en-US" sz="1000" b="1" dirty="0">
                <a:solidFill>
                  <a:srgbClr val="9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Unproven rent premium.  </a:t>
            </a:r>
            <a:pPr indent="0" marL="0">
              <a:lnSpc>
                <a:spcPts val="125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has been renovated to a current standard. At $125 rather than $155 the IRR is 12.0%; at $190 it is 16.2%. A leased mock-up before we go hard would settle it.</a:t>
            </a:r>
            <a:endParaRPr lang="en-US" sz="1000" dirty="0"/>
          </a:p>
          <a:p>
            <a:pPr indent="0" marL="0">
              <a:lnSpc>
                <a:spcPts val="1250"/>
              </a:lnSpc>
              <a:spcAft>
                <a:spcPts val="900"/>
              </a:spcAft>
              <a:buNone/>
            </a:pPr>
            <a:r>
              <a:rPr lang="en-US" sz="1000" b="1" dirty="0">
                <a:solidFill>
                  <a:srgbClr val="9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 physical risk.  </a:t>
            </a:r>
            <a:pPr indent="0" marL="0">
              <a:lnSpc>
                <a:spcPts val="1250"/>
              </a:lnSpc>
              <a:spcAft>
                <a:spcPts val="900"/>
              </a:spcAft>
              <a:buNone/>
            </a:pPr>
            <a:r>
              <a:rPr lang="en-US" sz="100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of 5 original rubber roofs, 37 below-grade units needing drains and sump pumps, original sliders, central gas water heaters. Plus 4 evictions and 8 notices on the rent roll.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4864608"/>
            <a:ext cx="11365992" cy="1691640"/>
          </a:xfrm>
          <a:prstGeom prst="roundRect">
            <a:avLst>
              <a:gd name="adj" fmla="val 2703"/>
            </a:avLst>
          </a:prstGeom>
          <a:solidFill>
            <a:srgbClr val="EAF3EE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501091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WOULD RESOLVE BEFORE GOING HARD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217920" y="5010912"/>
            <a:ext cx="5285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item below is a live question in the 62-question diligence list; each has a priced consequence in the model.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85800" y="5358384"/>
            <a:ext cx="2487168" cy="32004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5431536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3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Lease a renovated mock-up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85800" y="566928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$155 premium is the second-biggest driver and the only one still unproven. A signed lease moves the bid by roughly $600K.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511296" y="5358384"/>
            <a:ext cx="2487168" cy="32004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18" name="Text 16"/>
          <p:cNvSpPr/>
          <p:nvPr/>
        </p:nvSpPr>
        <p:spPr>
          <a:xfrm>
            <a:off x="3511296" y="5431536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3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 or price the tax risk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511296" y="566928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 a holdback to the first post-closing Form 11A. Worth 3.7 points of IRR if the assessment does reset.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336792" y="5358384"/>
            <a:ext cx="2487168" cy="32004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21" name="Text 19"/>
          <p:cNvSpPr/>
          <p:nvPr/>
        </p:nvSpPr>
        <p:spPr>
          <a:xfrm>
            <a:off x="6336792" y="5431536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3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the washer/dryers on site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336792" y="566928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OM says 78, its own schedules say 54, the rent roll says 53. Every 10 units of error is $50,000 of capital.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9162288" y="5358384"/>
            <a:ext cx="2487168" cy="32004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24" name="Text 22"/>
          <p:cNvSpPr/>
          <p:nvPr/>
        </p:nvSpPr>
        <p:spPr>
          <a:xfrm>
            <a:off x="9162288" y="5431536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3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credit for immediate needs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162288" y="566928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3A4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Sump pumps, patio drains and asphalt — about $190,000 of work identified before we own it.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19456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C  ·  Assumptions and the sensitivity grid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95360" y="310896"/>
            <a:ext cx="3182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below is a live input in the workbook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868680"/>
            <a:ext cx="50292" cy="182880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6" name="Text 4"/>
          <p:cNvSpPr/>
          <p:nvPr/>
        </p:nvSpPr>
        <p:spPr>
          <a:xfrm>
            <a:off x="539496" y="813816"/>
            <a:ext cx="5358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Major assumptions</a:t>
            </a:r>
            <a:endParaRPr 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25296"/>
          <a:ext cx="5486400" cy="914400"/>
        </p:xfrm>
        <a:graphic>
          <a:graphicData uri="http://schemas.openxmlformats.org/drawingml/2006/table">
            <a:tbl>
              <a:tblPr/>
              <a:tblGrid>
                <a:gridCol w="3246120"/>
                <a:gridCol w="2240280"/>
              </a:tblGrid>
              <a:tr h="19476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Underwritten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01A"/>
                    </a:solidFill>
                  </a:tcPr>
                </a:tc>
              </a:tr>
              <a:tr h="19476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price — SOLVED, not given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$12,000,000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476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rent growth, Y1 to Y5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/ 2.0 / 2.5 / 3.0 / 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476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 to lease, Y1 to Y5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 burning to 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476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vacancy / concessions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5.5% / 0.75% to 0.50%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476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debt, Y1 to Y5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1.50% to 1.00%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476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 A — start / pace / cost / premium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 2 / 10 / $10,000 / $100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476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 B — start / pace / cost / premium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 4 / 5 / $18,000 / $200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476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Blended cost / premium / return on cost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$14,407 / $155 / 12.9%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476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Renovation downtime, Track 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incremental days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476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Non-unit capital + 8% contingency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$1,199,800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476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expenses, Year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$8,929 per unit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476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estate taxes, Y1 to Y5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$137,000 to $160,300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476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Replacement reserves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 per unit, 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476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— LTC / rate / structure / fee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 / 5.85% / IO / 1.0%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476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test — min debt yield / DSCR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 / 1.25x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476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Acquisition cost / cost of sale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1.5% / 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476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 cap rate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6.75%, held constant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486460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i="1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 growth is set off Yardi Matrix 1Q-2026 ACTUALS and taxes off the 25-year Marion County assessment record — neither is a broker forecast. Where the rent roll and T-12 conflict with the OM, the Excel files govern: 53 units have in-unit laundry, not the OM's 78, so 65 units carry the case's $5,000 addition.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6263640" y="868680"/>
            <a:ext cx="50292" cy="182880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10" name="Text 7"/>
          <p:cNvSpPr/>
          <p:nvPr/>
        </p:nvSpPr>
        <p:spPr>
          <a:xfrm>
            <a:off x="6391656" y="813816"/>
            <a:ext cx="5385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Levered IRR — purchase price × exit cap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391656" y="1024128"/>
            <a:ext cx="5385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hurdle moves with the exit: at a 7.25% exit we can pay $11.25mm; at 6.25%, $12.87mm.</a:t>
            </a:r>
            <a:endParaRPr lang="en-US" sz="8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16736"/>
          <a:ext cx="551383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841248"/>
                <a:gridCol w="841248"/>
                <a:gridCol w="841248"/>
                <a:gridCol w="841248"/>
                <a:gridCol w="841248"/>
              </a:tblGrid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price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5C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$11.0mm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E0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E0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E0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E0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E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$11.5mm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E0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E0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$12.0mm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E0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$12.5mm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$13.0mm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E2B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$13.625mm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/>
          <p:nvPr/>
        </p:nvSpPr>
        <p:spPr>
          <a:xfrm>
            <a:off x="6263640" y="2889504"/>
            <a:ext cx="5513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Shaded ≥ 14%.  Base case $12.0mm at a 6.75% exit = 14.0%.  $13.625mm is what it traded for.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6263640" y="3246120"/>
            <a:ext cx="50292" cy="182880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15" name="Text 11"/>
          <p:cNvSpPr/>
          <p:nvPr/>
        </p:nvSpPr>
        <p:spPr>
          <a:xfrm>
            <a:off x="6391656" y="3191256"/>
            <a:ext cx="5385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and public-record evidence</a:t>
            </a:r>
            <a:endParaRPr lang="en-US" sz="11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621024"/>
          <a:ext cx="5513832" cy="914400"/>
        </p:xfrm>
        <a:graphic>
          <a:graphicData uri="http://schemas.openxmlformats.org/drawingml/2006/table">
            <a:tbl>
              <a:tblPr/>
              <a:tblGrid>
                <a:gridCol w="2852928"/>
                <a:gridCol w="1417320"/>
                <a:gridCol w="1243584"/>
              </a:tblGrid>
              <a:tr h="1965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01A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Indianapolis metro asking rent, 1Q-26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Yardi Matrix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Trailing-three-month rent change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Yardi Matrix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Year-over-year rent change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Yardi Matrix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 construction starts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than doubled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Yardi Matrix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 net annual tax bill, parcel 8000002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$129,648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Marion County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Assessed value range, 2012 to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$5.1 – 6.6mm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Marion County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recorded assessment change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Mar 2022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Marion County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 AV as a share of the 2026 trade price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Marion County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 price, deed 12 Jun 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$13,625,000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Marion County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sale, Mar 2006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$4,400,000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Marion County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2"/>
          <p:cNvSpPr/>
          <p:nvPr/>
        </p:nvSpPr>
        <p:spPr>
          <a:xfrm>
            <a:off x="6263640" y="5870448"/>
            <a:ext cx="5513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i="1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values apartments at the lowest of the income, market and cost approaches — which is why assessed value here has not tracked trade prices. An earlier draft of this model stepped taxes toward a share of the purchase price; the record does not support it, and correcting it is worth about 1.5 points of levered IRR. The risk is still priced, in Ladder C.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411480" y="555955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 — 13 tabs, 3,332 formulas, zero formula errors — in Chateau_in_the_Woods_5yr_Cash_Flow_Model.xlsx.  62 diligence questions with the answer assumed for each in Chateau_in_the_Woods_Due_Diligence_Questions.docx.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Chateau in the Woods — Investment Committee Recommendation</dc:title>
  <dc:subject>PptxGenJS Presentation</dc:subject>
  <dc:creator>Investment Committee Memorandum</dc:creator>
  <cp:lastModifiedBy>Investment Committee Memorandum</cp:lastModifiedBy>
  <cp:revision>1</cp:revision>
  <dcterms:created xsi:type="dcterms:W3CDTF">2026-07-30T19:42:09Z</dcterms:created>
  <dcterms:modified xsi:type="dcterms:W3CDTF">2026-07-30T19:42:09Z</dcterms:modified>
</cp:coreProperties>
</file>