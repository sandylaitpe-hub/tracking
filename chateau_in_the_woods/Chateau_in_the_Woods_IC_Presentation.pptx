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Levered IRR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823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81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32E2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32E2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$11.5mm</c:v>
                  </c:pt>
                  <c:pt idx="3">
                    <c:v>$12.0mm</c:v>
                  </c:pt>
                  <c:pt idx="4">
                    <c:v>$12.5mm</c:v>
                  </c:pt>
                  <c:pt idx="5">
                    <c:v>$13.625mm</c:v>
                  </c:pt>
                  <c:pt idx="6">
                    <c:v>$14.2mm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0.199</c:v>
                </c:pt>
                <c:pt idx="1">
                  <c:v>0.179</c:v>
                </c:pt>
                <c:pt idx="2">
                  <c:v>0.159</c:v>
                </c:pt>
                <c:pt idx="3">
                  <c:v>0.14</c:v>
                </c:pt>
                <c:pt idx="4">
                  <c:v>0.121</c:v>
                </c:pt>
                <c:pt idx="5">
                  <c:v>0.079</c:v>
                </c:pt>
                <c:pt idx="6">
                  <c:v>0.058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750" u="none">
                  <a:solidFill>
                    <a:srgbClr val="1823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Conservative on what we do not control (rent growth off 1Q-26 actuals, 6.75% exit cap held); confident on what we do control (renovation premium, ancillary income, expense management, two-track pace). The single biggest correction from an earlier draft: the 25-year Marion County assessment record shows assessed value range-bound at $5.1-6.6mm since 2012 and the 2006 sale did NOT reset it, so stepping taxes to a share of the purchase price was wrong. That correction is worth about 1.5 points of IRR and is still stress-tested in Ladder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have lost this deal, and should have. If we wanted to win it, the two honest routes are a proven rent premium (a leased mock-up moves the bid to ~$12.6mm at $170) or a cheaper scope that still holds the premium (Ladder B). Two structures worth testing before walking: a tax escrow or price adjustment tied to the first post-closing Form 11A, and a seller credit for the identified immediate needs (sump pumps, patio drains, asphalt — about $190K).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Chateau in the Woods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  ·  4020 Monaco Drive, Indianapolis, IN 46220  ·  Built 1974  ·  134,371 SF  ·  96.6% occupied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9052560" y="2743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</a:t>
            </a:r>
            <a:endParaRPr lang="en-US" sz="1100" dirty="0"/>
          </a:p>
          <a:p>
            <a:pPr algn="r" indent="0" marL="0">
              <a:buNone/>
            </a:pPr>
            <a:r>
              <a:rPr lang="en-US" sz="9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Value-Add Acquisition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4552" cy="731520"/>
          </a:xfrm>
          <a:prstGeom prst="roundRect">
            <a:avLst>
              <a:gd name="adj" fmla="val 7500"/>
            </a:avLst>
          </a:prstGeom>
          <a:solidFill>
            <a:srgbClr val="C8811F"/>
          </a:solidFill>
          <a:ln/>
          <a:effectLst>
            <a:outerShdw sx="100000" sy="100000" kx="0" ky="0" algn="bl" rotWithShape="0" blurRad="101600" dist="25400" dir="5400000">
              <a:srgbClr val="0B151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 $12.0mm.  </a:t>
            </a:r>
            <a:pPr indent="0" marL="0">
              <a:buNone/>
            </a:pPr>
            <a:r>
              <a:rPr lang="en-US" sz="1600" dirty="0">
                <a:solidFill>
                  <a:srgbClr val="2A1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 works; the price is what has to be disciplined.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92440" y="1097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A1B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$12.0mm ($101,695/unit).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2A1B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at $13.625mm — 12% above us.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$12.0mm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21792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maximum bid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1792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$101,695 per unit  ·  7.28% going-in cap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00984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13" name="Text 11"/>
          <p:cNvSpPr/>
          <p:nvPr/>
        </p:nvSpPr>
        <p:spPr>
          <a:xfrm>
            <a:off x="3465576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14.0% / 1.81x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65576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bid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65576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/ equity multiple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44768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3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7.9% / 1.42x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309360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$13.625mm trade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09360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sold for, 12 Jun 26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88552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53144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months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53144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complete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53144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  ·  no resident forced out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7200" y="31821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3474720"/>
            <a:ext cx="5532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units, built 1974, Northside Indianapolis. 96.6% occupied, all units classic. Renovate all 118, add in-unit laundry to the 65 without it, modernise the common areas — $2.90mm, $24,575/unit.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Two-track renovation, complete in 16 months. The 53 units that already have laundry are renovated IN PLACE at 10/month from month 2 — no permit, no vacancy loss, premium captured at renewal. The 65 units needing laundry require a state Construction Design Release plus a local permit and a vacant unit, so they run at natural turnover, 5/month from month 4. Nobody is forced out.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renovation works. $14,407/unit blended earns a $155/month premium — a 12.9% return on cost, and the Year-5 yield on cost of 7.86% sits 111 bps above our 6.75% exit.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does not help. Yardi Matrix 1Q-26: metro rents FLAT on a trailing-three-month basis at $1,310 and up just 1.1% year over year, with 2025 starts MORE THAN DOUBLED — delivering 2027-28, inside our hold. We underwrite 1.5/2.0/2.5/3.0/3.0%.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$12.0mm. It traded at $13,625,000 on 12 June 2026 (Marion County deed, $115,466/unit) — 12% above us, where the same plan returns 7.9% and 1.42x. We would have been outbid, and that is the right outcome.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1821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511296"/>
          <a:ext cx="5376672" cy="914400"/>
        </p:xfrm>
        <a:graphic>
          <a:graphicData uri="http://schemas.openxmlformats.org/drawingml/2006/table">
            <a:tbl>
              <a:tblPr/>
              <a:tblGrid>
                <a:gridCol w="2761488"/>
                <a:gridCol w="1335024"/>
                <a:gridCol w="1280160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Five-year hold, Aug-26 to Jul-31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our bid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trade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$13.625mm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$101,695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$115,466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Going-in cap rate (our underwriting)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basis per 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$126,269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 equity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$5.59mm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$6.20mm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/ Year-5 NOI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 / $1,171K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 / $1,171K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yield on cost vs 6.75% exit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+111 bps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bps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cash-on-cash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IRR /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 / 1.50x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 / 1.35x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Levered IRR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81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81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</a:tbl>
          </a:graphicData>
        </a:graphic>
      </p:graphicFrame>
      <p:sp>
        <p:nvSpPr>
          <p:cNvPr id="28" name="Text 25"/>
          <p:cNvSpPr/>
          <p:nvPr/>
        </p:nvSpPr>
        <p:spPr>
          <a:xfrm>
            <a:off x="457200" y="6510528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C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rent roll 07/01/2026 · T-12 Feb-25 to Jan-26 · CBRE OM 09/10/2025 · Yardi Matrix Indianapolis 1Q-2026 · Marion County parcel 8000002 assessment and transfer record. Rent growth is set off 1Q-26 ACTUALS, not a forecast. Debt: 65% LTC / 8.0% min debt yield / 5.85% interest-only.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Opportunities, Risks &amp; Assumptions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138160" y="32918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Chateau in the Woods  ·  118 Units  ·  Indianapolis, IN  ·  Investment Committee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237744" cy="23774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813816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Opportunities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" y="1152144"/>
            <a:ext cx="3703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Two-track renovation, 16 months.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53 units with existing laundry go in place at 10/month from month 2 — no permit, no vacancy loss. The 65 needing laundry follow natural turnover at 5/month. All 118 done in month 16 without forcing a single resident out.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 laundry, all 118 units.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units lack it. At the case's $5,000/unit the laundry component is the highest-return item in the plan. The rent roll shows 53 units with machines, not the OM's 78.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12.9% return on renovation cost.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$14,407/unit blended for a $155/month premium, against a 6.75% exit. Year-5 yield on cost of 7.86% sits 111 bps above the exit cap.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are lower than they look.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Marion County parcel 8000002: 2025 actual bill $129,648, assessed value range-bound $5.1-6.6mm since 2012, last change March 2022. The 2006 sale did not reset it. Today's AV is 41% of the 2026 trade price.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Under-collected ancillary income.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$49 technology fee is ~60% penetrated, the $25 valet trash charge is not yet billed although the property starts paying for it in Jan-26, and there is no pet rent — ~$110K a year of run-rate.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slack.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 loss to lease and 6.8% trailing physical vacancy against a 5.5% stabilised target.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434840" y="841248"/>
            <a:ext cx="237744" cy="237744"/>
          </a:xfrm>
          <a:prstGeom prst="ellipse">
            <a:avLst/>
          </a:prstGeom>
          <a:solidFill>
            <a:srgbClr val="A32E22"/>
          </a:solidFill>
          <a:ln/>
        </p:spPr>
      </p:sp>
      <p:sp>
        <p:nvSpPr>
          <p:cNvPr id="8" name="Text 6"/>
          <p:cNvSpPr/>
          <p:nvPr/>
        </p:nvSpPr>
        <p:spPr>
          <a:xfrm>
            <a:off x="4764024" y="813816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34840" y="1152144"/>
            <a:ext cx="3703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growth. The dominant variable.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rents flat on a trailing-three-month basis, +1.1% YoY in 1Q-26, and 2025 starts more than doubled — delivering 2027-28, inside our hold, with Carmel taking over half of 2026 deliveries just north of us. At a flat 1.0% the deal returns 7.1%; at 3.0%, 16.7%.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Basis. We were outbid by 12%.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at $13,625,000. At that price the same plan returns 7.9% and 1.42x, and the yield-on-cost spread over the exit collapses from 111 bps to 34 bps.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reassessment.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grows the actual bill 4% a year. If assessed value reset to 69% of the trade price the Year-5 bill goes to $238,700 and the IRR falls from 14.0% to 10.3%. History says it will not, but Ladder C prices it.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Unproven rent premium.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has been renovated to a current standard. At $125 rather than $155 the IRR is 12.0%; at $190 it is 16.2%. A leased mock-up before we go hard would settle it.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physical risk.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of 5 original rubber roofs, 37 below-grade units needing drains and sump pumps, original sliders, central gas water heaters. Plus 4 evictions and 8 notices on the rent roll.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412480" y="841248"/>
            <a:ext cx="237744" cy="237744"/>
          </a:xfrm>
          <a:prstGeom prst="ellipse">
            <a:avLst/>
          </a:prstGeom>
          <a:solidFill>
            <a:srgbClr val="C8811F"/>
          </a:solidFill>
          <a:ln/>
        </p:spPr>
      </p:sp>
      <p:sp>
        <p:nvSpPr>
          <p:cNvPr id="11" name="Text 9"/>
          <p:cNvSpPr/>
          <p:nvPr/>
        </p:nvSpPr>
        <p:spPr>
          <a:xfrm>
            <a:off x="8741664" y="813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Assumptions</a:t>
            </a:r>
            <a:endParaRPr lang="en-US" sz="14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152144"/>
          <a:ext cx="331927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1289304"/>
              </a:tblGrid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3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Underwritten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31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 — SOLVED, not given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rent growth Y1 to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 to 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A: start / pace / cost / prem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2 / 10 / $10k / $100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B: start / pace / cost / prem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4 / 5 / $18k / $200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cost / premium / ROC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$14,407 / $155 / 12.9%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Non-unit capital + 8% contingency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vacancy / reno downtime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 / 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debt, Year 1 to Year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 to 1.00%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Taxes Y1-Y5 (actual bill +4%/yr)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$137K to $160K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expenses, Year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$8,929/unit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Debt: LTC / rate / structure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 / 5.85% / 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cap / cost of sale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 / 1.5%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412480" y="4206240"/>
            <a:ext cx="3319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 off Yardi 1Q-26 ACTUALS and taxes off the 25-year Marion County assessment record — not forecasts. Where the rent roll and T-12 conflict with the OM, the Excel files govern (W/D count 53, not 78).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57200" y="48463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by purchase price (6.75% exit cap)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84048" y="5084064"/>
          <a:ext cx="4800600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/>
          <p:nvPr/>
        </p:nvSpPr>
        <p:spPr>
          <a:xfrm>
            <a:off x="457200" y="63916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hurdle is cleared at or below $12.0mm. It traded at $13.625mm.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486400" y="4773168"/>
            <a:ext cx="6245352" cy="1737360"/>
          </a:xfrm>
          <a:prstGeom prst="roundRect">
            <a:avLst>
              <a:gd name="adj" fmla="val 2632"/>
            </a:avLst>
          </a:prstGeom>
          <a:solidFill>
            <a:srgbClr val="16302A"/>
          </a:solidFill>
          <a:ln/>
          <a:effectLst>
            <a:outerShdw sx="100000" sy="100000" kx="0" ky="0" algn="bl" rotWithShape="0" blurRad="101600" dist="25400" dir="5400000">
              <a:srgbClr val="0B1512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760720" y="488289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Assessment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760720" y="5157216"/>
            <a:ext cx="5715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well-located asset with a genuinely accretive plan: 12.9% return on renovation cost, all 118 units done in 16 months without displacing a resident, and a Year-5 yield on cost 111 bps above our exit. Our maximum bid is $12.0mm. It traded at $13,625,000 — 12% above us — where the same plan returns 7.9%. We were outbid by someone with a cheaper cost of capital or a braver rent view, and on 1.1% actual metro rent growth we would make the same call again. Being disciplined on the one variable you fully control is the job.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Chateau in the Woods — Investment Committee Recommendation</dc:title>
  <dc:subject>PptxGenJS Presentation</dc:subject>
  <dc:creator>Investment Committee Memorandum</dc:creator>
  <cp:lastModifiedBy>Investment Committee Memorandum</cp:lastModifiedBy>
  <cp:revision>1</cp:revision>
  <dcterms:created xsi:type="dcterms:W3CDTF">2026-07-30T18:55:31Z</dcterms:created>
  <dcterms:modified xsi:type="dcterms:W3CDTF">2026-07-30T18:55:31Z</dcterms:modified>
</cp:coreProperties>
</file>