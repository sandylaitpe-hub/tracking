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Levered IRR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823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81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32E2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32E2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$11.5mm</c:v>
                  </c:pt>
                  <c:pt idx="1">
                    <c:v>$12.0mm</c:v>
                  </c:pt>
                  <c:pt idx="2">
                    <c:v>$12.25mm</c:v>
                  </c:pt>
                  <c:pt idx="3">
                    <c:v>$12.75mm</c:v>
                  </c:pt>
                  <c:pt idx="4">
                    <c:v>$13.25mm</c:v>
                  </c:pt>
                  <c:pt idx="5">
                    <c:v>$14.2mm</c:v>
                  </c:pt>
                  <c:pt idx="6">
                    <c:v>$14.75mm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0.166</c:v>
                </c:pt>
                <c:pt idx="1">
                  <c:v>0.147</c:v>
                </c:pt>
                <c:pt idx="2">
                  <c:v>0.138</c:v>
                </c:pt>
                <c:pt idx="3">
                  <c:v>0.12</c:v>
                </c:pt>
                <c:pt idx="4">
                  <c:v>0.101</c:v>
                </c:pt>
                <c:pt idx="5">
                  <c:v>0.067</c:v>
                </c:pt>
                <c:pt idx="6">
                  <c:v>0.049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750" u="none">
                  <a:solidFill>
                    <a:srgbClr val="1823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E7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is conditional on basis, not on the business plan. The interior renovation earns 12.7% on cost; the constraint is the going-in price and the ~$1.06mm of deferred maintenance that carries no rent. Walk-away is $13.0mm, where the levered IRR falls to about 10%.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seller holds at $14.2mm we pass. Two structures worth testing before walking: a tax escrow or price adjustment tied to the first post-closing Form 11A, and a seller credit for the identified immediate needs (sump pumps, patio drains, asphalt — about $190K).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Chateau in the Woods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Units  ·  4020 Monaco Drive, Indianapolis, IN 46220  ·  Built 1974  ·  134,371 SF  ·  96.6% occupied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052560" y="27432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COMMITTEE</a:t>
            </a:r>
            <a:endParaRPr lang="en-US" sz="11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·  Value-Add Acquisition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4552" cy="731520"/>
          </a:xfrm>
          <a:prstGeom prst="roundRect">
            <a:avLst>
              <a:gd name="adj" fmla="val 7500"/>
            </a:avLst>
          </a:prstGeom>
          <a:solidFill>
            <a:srgbClr val="C8811F"/>
          </a:solidFill>
          <a:ln/>
          <a:effectLst>
            <a:outerShdw sx="100000" sy="100000" kx="0" ky="0" algn="bl" rotWithShape="0" blurRad="101600" dist="25400" dir="5400000">
              <a:srgbClr val="0B151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CONDITIONAL:  </a:t>
            </a:r>
            <a:pPr indent="0" marL="0">
              <a:buNone/>
            </a:pPr>
            <a:r>
              <a:rPr lang="en-US" sz="1600" dirty="0">
                <a:solidFill>
                  <a:srgbClr val="2A1B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plan and the capital — not the price.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92440" y="1097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1B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$12.25mm ($103,814/unit).</a:t>
            </a:r>
            <a:endParaRPr lang="en-US" sz="115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2A1B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walk above $13.0mm.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2660904" cy="969264"/>
          </a:xfrm>
          <a:prstGeom prst="roundRect">
            <a:avLst>
              <a:gd name="adj" fmla="val 4717"/>
            </a:avLst>
          </a:prstGeom>
          <a:solidFill>
            <a:srgbClr val="1F423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103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$12.25mm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21792" y="24871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68833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$103,814 per unit  ·  7.15% going-in cap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00984" y="2029968"/>
            <a:ext cx="2660904" cy="969264"/>
          </a:xfrm>
          <a:prstGeom prst="roundRect">
            <a:avLst>
              <a:gd name="adj" fmla="val 4717"/>
            </a:avLst>
          </a:prstGeom>
          <a:solidFill>
            <a:srgbClr val="1F423A"/>
          </a:solidFill>
          <a:ln/>
        </p:spPr>
      </p:sp>
      <p:sp>
        <p:nvSpPr>
          <p:cNvPr id="13" name="Text 11"/>
          <p:cNvSpPr/>
          <p:nvPr/>
        </p:nvSpPr>
        <p:spPr>
          <a:xfrm>
            <a:off x="3465576" y="2103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13.8% / 1.81x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465576" y="24871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our bid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65576" y="268833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Levered IRR / equity multiple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44768" y="2029968"/>
            <a:ext cx="2660904" cy="969264"/>
          </a:xfrm>
          <a:prstGeom prst="roundRect">
            <a:avLst>
              <a:gd name="adj" fmla="val 4717"/>
            </a:avLst>
          </a:prstGeom>
          <a:solidFill>
            <a:srgbClr val="1F423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103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8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6.7% / 1.35x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309360" y="24871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$14.2mm ask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268833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Levered IRR / equity multiple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88552" y="2029968"/>
            <a:ext cx="2660904" cy="969264"/>
          </a:xfrm>
          <a:prstGeom prst="roundRect">
            <a:avLst>
              <a:gd name="adj" fmla="val 4717"/>
            </a:avLst>
          </a:prstGeom>
          <a:solidFill>
            <a:srgbClr val="1F423A"/>
          </a:solidFill>
          <a:ln/>
        </p:spPr>
      </p:sp>
      <p:sp>
        <p:nvSpPr>
          <p:cNvPr id="21" name="Text 19"/>
          <p:cNvSpPr/>
          <p:nvPr/>
        </p:nvSpPr>
        <p:spPr>
          <a:xfrm>
            <a:off x="9153144" y="2103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12.7%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53144" y="24871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 return on cost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53144" y="268833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$15,754/unit  ·  $166/mo premium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1821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3493008"/>
            <a:ext cx="5532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D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units, built 1974, Northside Indianapolis. 96.6% occupied and every unit in classic condition. The plan: renovate all 118, add in-unit laundry to the 65 units without it, modernise the common areas — $3.07mm, $26,030 per unit.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D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renovation works. $15,754/unit blended earns a $166/month premium — a 12.7% return on cost against a 6.75% exit; the laundry component alone earns 18%. Renovated rents of $1,250-$1,725 sit inside the comp set: Avalon Lake, same 1974 vintage, gets $1,655 on a 1,090 SF two-bedroom against our $1,250 Verdun.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D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does not. Capitalised at exit, the whole $3.07mm plan nets $9,867 of value — the interior scope makes $1.07mm and $1.06mm of deferred maintenance gives all of it back. And the ask is struck on a forecast NOI that already embeds the loss-to-lease burn-off, the recovery to 95% occupancy and the ancillary income we would have to create ourselves.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D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approve the plan and the capital. Bid $12.25mm, best and final $12.5mm, hard walk $13.0mm. Nothing here justifies stretching on basis.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5080" y="31821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3511296"/>
          <a:ext cx="5376672" cy="914400"/>
        </p:xfrm>
        <a:graphic>
          <a:graphicData uri="http://schemas.openxmlformats.org/drawingml/2006/table">
            <a:tbl>
              <a:tblPr/>
              <a:tblGrid>
                <a:gridCol w="2761488"/>
                <a:gridCol w="1335024"/>
                <a:gridCol w="1280160"/>
              </a:tblGrid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Five-year hold, Aug-26 to Jul-31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our 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$12.25mm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the 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$14.2mm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$103,814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9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$120,339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Going-in cap rate (our underwriting)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9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All-in basis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$129,843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9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$146,369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$5.75mm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9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$6.74mm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Year-1 / Year-5 NOI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$876K / $1,209K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9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$876K / $1,209K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Year-5 yield on cost vs 6.75% exit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+114 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9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 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cash-on-cash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9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Unlevered IRR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FE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9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Levered IRR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8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multiple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81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457200" y="6455664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rent roll 07/01/2026 · T-12 Feb-25 to Jan-26 · CBRE Offering Memorandum 09/10/2025. No purchase price was provided; $14.2mm is derived from the OM's stated 6.9% Year-1 cap rate on CBRE's $980,838 Acquisition Forecast NOI. Returns are net of a 65% loan-to-cost / 8.0% minimum debt yield facility at 5.85% interest-only.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Opportunities, Risks &amp; Assumptions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138160" y="32918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Chateau in the Woods  ·  118 Units  ·  Indianapolis, IN  ·  Investment Committee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237744" cy="23774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813816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Opportunities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1152144"/>
            <a:ext cx="3703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In-unit laundry, all 118 units.  </a:t>
            </a:r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D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units lack it. At the case's $5,000/unit it earns an incremental $75/month — an 18% return on cost, the best item in the plan. The rent roll shows only 53 units with machines, not the OM's 78.</a:t>
            </a:r>
            <a:endParaRPr lang="en-US" sz="900" dirty="0"/>
          </a:p>
          <a:p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interior renovation.  </a:t>
            </a:r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D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$13,000/unit for cabinets, counters, LVP, appliances, fixtures and paint at a $125/month premium. Units were last touched in 2006.</a:t>
            </a:r>
            <a:endParaRPr lang="en-US" sz="900" dirty="0"/>
          </a:p>
          <a:p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headroom to the comp set.  </a:t>
            </a:r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D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Chateau's 2-bedrooms sit at $1.08/SF against a $1.28/SF submarket average. Avalon Lake (1974) gets $1,655 on 1,090 SF; our renovated Verdun is underwritten at $1,450.</a:t>
            </a:r>
            <a:endParaRPr lang="en-US" sz="900" dirty="0"/>
          </a:p>
          <a:p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Under-collected ancillary income.  </a:t>
            </a:r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D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$49 technology fee is only ~60% penetrated, the $25 valet trash charge is not yet billed even though the property starts paying for it in Jan-26, and there is no pet rent at all — roughly $110K a year of run-rate.</a:t>
            </a:r>
            <a:endParaRPr lang="en-US" sz="900" dirty="0"/>
          </a:p>
          <a:p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slack.  </a:t>
            </a:r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D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 loss to lease and 6.8% trailing physical vacancy against a 5.0% stabilised target.</a:t>
            </a:r>
            <a:endParaRPr lang="en-US" sz="900" dirty="0"/>
          </a:p>
          <a:p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not underwritten.  </a:t>
            </a:r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D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units from the Bldg 4042 storage conversion and 9 carport-to-garage conversions — real, but 5-10% returns.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34840" y="841248"/>
            <a:ext cx="237744" cy="237744"/>
          </a:xfrm>
          <a:prstGeom prst="ellipse">
            <a:avLst/>
          </a:prstGeom>
          <a:solidFill>
            <a:srgbClr val="A32E22"/>
          </a:solidFill>
          <a:ln/>
        </p:spPr>
      </p:sp>
      <p:sp>
        <p:nvSpPr>
          <p:cNvPr id="8" name="Text 6"/>
          <p:cNvSpPr/>
          <p:nvPr/>
        </p:nvSpPr>
        <p:spPr>
          <a:xfrm>
            <a:off x="4764024" y="813816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34840" y="1152144"/>
            <a:ext cx="3703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A3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Basis, not the plan.  </a:t>
            </a:r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D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ask we pay a 6.17% going-in cap and fund $26,030/unit of capital. About $1.06mm of that is deferred maintenance with no rent attached, consuming nearly all the value the renovation creates.</a:t>
            </a:r>
            <a:endParaRPr lang="en-US" sz="900" dirty="0"/>
          </a:p>
          <a:p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A3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reassessment.  </a:t>
            </a:r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D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value is $5.55mm against a $14.2mm price. The OM's own comp study shows AV averaging 69% of sale price and rising 6.2% a year post-trade. We step taxes $140K to $210K; a move to 69% of price adds ~$110K a year, about $1.6mm of value.</a:t>
            </a:r>
            <a:endParaRPr lang="en-US" sz="900" dirty="0"/>
          </a:p>
          <a:p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A3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Unproven rent premium.  </a:t>
            </a:r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D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has been renovated to a current standard, so there is no in-place evidence. Every $25/month of premium is worth roughly 1.3 points of IRR.</a:t>
            </a:r>
            <a:endParaRPr lang="en-US" sz="900" dirty="0"/>
          </a:p>
          <a:p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A3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 physical risk.  </a:t>
            </a:r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D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of 5 original rubber roofs, 37 below-grade units needing drains and 4 sump pumps, original aluminium sliders, and central gas water heaters — $29K replaced in two months of the T-12.</a:t>
            </a:r>
            <a:endParaRPr lang="en-US" sz="900" dirty="0"/>
          </a:p>
          <a:p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A3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credit quality.  </a:t>
            </a:r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D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units in eviction, 8 on notice, and gross write-offs accelerating to $5,670 in January 2026 alone.</a:t>
            </a:r>
            <a:endParaRPr lang="en-US" sz="900" dirty="0"/>
          </a:p>
          <a:p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A3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and exit.  </a:t>
            </a:r>
            <a:pPr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D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turns in 26 months with a 3.5-person site team. And 75 bps of exit cap expansion costs about 5 points of IRR.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12480" y="841248"/>
            <a:ext cx="237744" cy="237744"/>
          </a:xfrm>
          <a:prstGeom prst="ellipse">
            <a:avLst/>
          </a:prstGeom>
          <a:solidFill>
            <a:srgbClr val="C8811F"/>
          </a:solidFill>
          <a:ln/>
        </p:spPr>
      </p:sp>
      <p:sp>
        <p:nvSpPr>
          <p:cNvPr id="11" name="Text 9"/>
          <p:cNvSpPr/>
          <p:nvPr/>
        </p:nvSpPr>
        <p:spPr>
          <a:xfrm>
            <a:off x="8741664" y="813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Assumptions</a:t>
            </a:r>
            <a:endParaRPr lang="en-US" sz="14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152144"/>
          <a:ext cx="3319272" cy="914400"/>
        </p:xfrm>
        <a:graphic>
          <a:graphicData uri="http://schemas.openxmlformats.org/drawingml/2006/table">
            <a:tbl>
              <a:tblPr/>
              <a:tblGrid>
                <a:gridCol w="2029968"/>
                <a:gridCol w="1289304"/>
              </a:tblGrid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Underwritten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1E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price (not provided; from OM cap rate)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8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$14.2mm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rent growth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8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 / yr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Renovation pace / completion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8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per mo / mo 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cost / rent premium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8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$13,000 / $125mo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W/D addition, 65 units (case-set)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8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 / $75mo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Non-unit capital + 8% contingency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8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$1.21mm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Stabilised vacancy / reno downtime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8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 / 14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debt, Year 1 to Year 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8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1.50% to 1.00%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 taxes, Year 1 to Year 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8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$140K to $210K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expenses, Year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8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$8,957/unit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Debt: LTC / rate / structure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8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 / 5.85% / 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cap / cost of sale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8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6.75% / 1.5%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412480" y="4206240"/>
            <a:ext cx="3319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E7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rent roll and T-12 conflict with the OM, the Excel files govern — including the washer/dryer count (53, not the OM's 78) and all market rents.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Levered IRR by purchase price (6.75% exit cap)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84048" y="5084064"/>
          <a:ext cx="4800600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2"/>
          <p:cNvSpPr/>
          <p:nvPr/>
        </p:nvSpPr>
        <p:spPr>
          <a:xfrm>
            <a:off x="457200" y="639165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7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hurdle is cleared only at or below $12.25mm.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486400" y="4773168"/>
            <a:ext cx="6245352" cy="1737360"/>
          </a:xfrm>
          <a:prstGeom prst="roundRect">
            <a:avLst>
              <a:gd name="adj" fmla="val 2632"/>
            </a:avLst>
          </a:prstGeom>
          <a:solidFill>
            <a:srgbClr val="16302A"/>
          </a:solidFill>
          <a:ln/>
          <a:effectLst>
            <a:outerShdw sx="100000" sy="100000" kx="0" ky="0" algn="bl" rotWithShape="0" blurRad="101600" dist="25400" dir="5400000">
              <a:srgbClr val="0B1512">
                <a:alpha val="1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760720" y="488289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Assessment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760720" y="5157216"/>
            <a:ext cx="5715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well-located, well-maintained asset with a genuinely accretive renovation — a 12.7% return on cost against a 6.75% exit, and 18% on the laundry component. The business plan is sound and we recommend approving it and the $3.07mm of capital. The price is not: the ask capitalises operating upside we would have to create ourselves and then asks us to fund $26,030/unit of capital, a third of it deferred maintenance with no rent attached. Discipline on basis is the entire investment decision here.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Chateau in the Woods — Investment Committee Recommendation</dc:title>
  <dc:subject>PptxGenJS Presentation</dc:subject>
  <dc:creator>Investment Committee Memorandum</dc:creator>
  <cp:lastModifiedBy>Investment Committee Memorandum</cp:lastModifiedBy>
  <cp:revision>1</cp:revision>
  <dcterms:created xsi:type="dcterms:W3CDTF">2026-07-30T00:10:34Z</dcterms:created>
  <dcterms:modified xsi:type="dcterms:W3CDTF">2026-07-30T00:10:34Z</dcterms:modified>
</cp:coreProperties>
</file>