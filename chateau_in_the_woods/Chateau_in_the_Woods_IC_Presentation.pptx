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Levered IRR</c:v>
                </c:pt>
              </c:strCache>
            </c:strRef>
          </c:tx>
          <c:spPr>
            <a:solidFill>
              <a:srgbClr val="2E9E7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A7F7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7F7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E2B2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E2B25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$11.5mm</c:v>
                  </c:pt>
                  <c:pt idx="3">
                    <c:v>$12.0mm</c:v>
                  </c:pt>
                  <c:pt idx="4">
                    <c:v>$12.5mm</c:v>
                  </c:pt>
                  <c:pt idx="5">
                    <c:v>$13.0mm</c:v>
                  </c:pt>
                  <c:pt idx="6">
                    <c:v>$13.625mm</c:v>
                  </c:pt>
                  <c:pt idx="7">
                    <c:v>$14.2mm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0.199</c:v>
                </c:pt>
                <c:pt idx="1">
                  <c:v>0.179</c:v>
                </c:pt>
                <c:pt idx="2">
                  <c:v>0.159</c:v>
                </c:pt>
                <c:pt idx="3">
                  <c:v>0.14</c:v>
                </c:pt>
                <c:pt idx="4">
                  <c:v>0.121</c:v>
                </c:pt>
                <c:pt idx="5">
                  <c:v>0.102</c:v>
                </c:pt>
                <c:pt idx="6">
                  <c:v>0.079</c:v>
                </c:pt>
                <c:pt idx="7">
                  <c:v>0.058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14% hurdle</c:v>
                </c:pt>
              </c:strCache>
            </c:strRef>
          </c:tx>
          <c:spPr>
            <a:solidFill>
              <a:srgbClr val="FFFFFF"/>
            </a:solidFill>
            <a:ln w="15875" cap="flat">
              <a:solidFill>
                <a:srgbClr val="FFFFFF"/>
              </a:solidFill>
              <a:prstDash val="dash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$11.5mm</c:v>
                  </c:pt>
                  <c:pt idx="3">
                    <c:v>$12.0mm</c:v>
                  </c:pt>
                  <c:pt idx="4">
                    <c:v>$12.5mm</c:v>
                  </c:pt>
                  <c:pt idx="5">
                    <c:v>$13.0mm</c:v>
                  </c:pt>
                  <c:pt idx="6">
                    <c:v>$13.625mm</c:v>
                  </c:pt>
                  <c:pt idx="7">
                    <c:v>$14.2mm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0.14</c:v>
                </c:pt>
                <c:pt idx="1">
                  <c:v>0.14</c:v>
                </c:pt>
                <c:pt idx="2">
                  <c:v>0.14</c:v>
                </c:pt>
                <c:pt idx="3">
                  <c:v>0.14</c:v>
                </c:pt>
                <c:pt idx="4">
                  <c:v>0.14</c:v>
                </c:pt>
                <c:pt idx="5">
                  <c:v>0.14</c:v>
                </c:pt>
                <c:pt idx="6">
                  <c:v>0.14</c:v>
                </c:pt>
                <c:pt idx="7">
                  <c:v>0.14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FC9A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5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3B2E"/>
        </a:solidFill>
        <a:ln>
          <a:noFill/>
        </a:ln>
        <a:effectLst/>
      </c:spPr>
    </c:plotArea>
    <c:plotVisOnly val="1"/>
    <c:dispBlanksAs val="span"/>
  </c:chart>
  <c:spPr>
    <a:solidFill>
      <a:srgbClr val="0D3B2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NOI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873</c:v>
                </c:pt>
                <c:pt idx="1">
                  <c:v>1060</c:v>
                </c:pt>
                <c:pt idx="2">
                  <c:v>1108</c:v>
                </c:pt>
                <c:pt idx="3">
                  <c:v>1142</c:v>
                </c:pt>
                <c:pt idx="4">
                  <c:v>1171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13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 on cost</c:v>
                </c:pt>
              </c:strCache>
            </c:strRef>
          </c:tx>
          <c:spPr>
            <a:solidFill>
              <a:srgbClr val="1F7A5C"/>
            </a:solidFill>
            <a:ln w="34925" cap="flat">
              <a:solidFill>
                <a:srgbClr val="1F7A5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7A5C"/>
              </a:solidFill>
              <a:ln w="9525" cap="flat">
                <a:solidFill>
                  <a:srgbClr val="1F7A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0.0586</c:v>
                </c:pt>
                <c:pt idx="1">
                  <c:v>0.0711</c:v>
                </c:pt>
                <c:pt idx="2">
                  <c:v>0.0744</c:v>
                </c:pt>
                <c:pt idx="3">
                  <c:v>0.0767</c:v>
                </c:pt>
                <c:pt idx="4">
                  <c:v>0.0786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Exit cap 6.75%</c:v>
                </c:pt>
              </c:strCache>
            </c:strRef>
          </c:tx>
          <c:spPr>
            <a:solidFill>
              <a:srgbClr val="C9A227"/>
            </a:solidFill>
            <a:ln w="19050" cap="flat">
              <a:solidFill>
                <a:srgbClr val="C9A22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A227"/>
              </a:solidFill>
              <a:ln w="9525" cap="flat">
                <a:solidFill>
                  <a:srgbClr val="C9A22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0.0675</c:v>
                </c:pt>
                <c:pt idx="1">
                  <c:v>0.0675</c:v>
                </c:pt>
                <c:pt idx="2">
                  <c:v>0.0675</c:v>
                </c:pt>
                <c:pt idx="3">
                  <c:v>0.0675</c:v>
                </c:pt>
                <c:pt idx="4">
                  <c:v>0.0675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5"/>
          <c:min val="0.05"/>
        </c:scaling>
        <c:delete val="0"/>
        <c:axPos val="l"/>
        <c:majorGridlines>
          <c:spPr>
            <a:ln w="6350" cap="flat">
              <a:solidFill>
                <a:srgbClr val="EAEFEB"/>
              </a:solidFill>
              <a:prstDash val="solid"/>
              <a:round/>
            </a:ln>
          </c:spPr>
        </c:majorGridlines>
        <c:numFmt formatCode="0.0%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Track A — in place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53</c:v>
                </c:pt>
                <c:pt idx="7">
                  <c:v>53</c:v>
                </c:pt>
                <c:pt idx="8">
                  <c:v>53</c:v>
                </c:pt>
                <c:pt idx="9">
                  <c:v>53</c:v>
                </c:pt>
                <c:pt idx="10">
                  <c:v>53</c:v>
                </c:pt>
                <c:pt idx="11">
                  <c:v>53</c:v>
                </c:pt>
                <c:pt idx="12">
                  <c:v>53</c:v>
                </c:pt>
                <c:pt idx="13">
                  <c:v>53</c:v>
                </c:pt>
                <c:pt idx="14">
                  <c:v>53</c:v>
                </c:pt>
                <c:pt idx="15">
                  <c:v>53</c:v>
                </c:pt>
                <c:pt idx="16">
                  <c:v>53</c:v>
                </c:pt>
                <c:pt idx="17">
                  <c:v>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Track B — vacant + laundry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10</c:v>
                </c:pt>
                <c:pt idx="5">
                  <c:v>15</c:v>
                </c:pt>
                <c:pt idx="6">
                  <c:v>20</c:v>
                </c:pt>
                <c:pt idx="7">
                  <c:v>25</c:v>
                </c:pt>
                <c:pt idx="8">
                  <c:v>30</c:v>
                </c:pt>
                <c:pt idx="9">
                  <c:v>35</c:v>
                </c:pt>
                <c:pt idx="10">
                  <c:v>40</c:v>
                </c:pt>
                <c:pt idx="11">
                  <c:v>45</c:v>
                </c:pt>
                <c:pt idx="12">
                  <c:v>50</c:v>
                </c:pt>
                <c:pt idx="13">
                  <c:v>55</c:v>
                </c:pt>
                <c:pt idx="14">
                  <c:v>60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0"/>
        <c:axPos val="l"/>
        <c:majorGridlines>
          <c:spPr>
            <a:ln w="6350" cap="flat">
              <a:solidFill>
                <a:srgbClr val="EAEFEB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9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BFE0C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Renovation cost $20.0K → $11.0K</c:v>
                  </c:pt>
                  <c:pt idx="1">
                    <c:v>Renovation premium $100 → $190 /mo</c:v>
                  </c:pt>
                  <c:pt idx="2">
                    <c:v>Year-5 tax bill $294K → $137K</c:v>
                  </c:pt>
                  <c:pt idx="3">
                    <c:v>Exit cap 7.50% → 6.25%</c:v>
                  </c:pt>
                  <c:pt idx="4">
                    <c:v>Market rent growth 1.0% → 3.5% flat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0.1566</c:v>
                </c:pt>
                <c:pt idx="1">
                  <c:v>0.1623</c:v>
                </c:pt>
                <c:pt idx="2">
                  <c:v>0.1504</c:v>
                </c:pt>
                <c:pt idx="3">
                  <c:v>0.1715</c:v>
                </c:pt>
                <c:pt idx="4">
                  <c:v>0.1873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Renovation cost $20.0K → $11.0K</c:v>
                  </c:pt>
                  <c:pt idx="1">
                    <c:v>Renovation premium $100 → $190 /mo</c:v>
                  </c:pt>
                  <c:pt idx="2">
                    <c:v>Year-5 tax bill $294K → $137K</c:v>
                  </c:pt>
                  <c:pt idx="3">
                    <c:v>Exit cap 7.50% → 6.25%</c:v>
                  </c:pt>
                  <c:pt idx="4">
                    <c:v>Market rent growth 1.0% → 3.5% flat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0.1135</c:v>
                </c:pt>
                <c:pt idx="1">
                  <c:v>0.102</c:v>
                </c:pt>
                <c:pt idx="2">
                  <c:v>0.0738</c:v>
                </c:pt>
                <c:pt idx="3">
                  <c:v>0.095</c:v>
                </c:pt>
                <c:pt idx="4">
                  <c:v>0.0714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800" u="none">
                  <a:solidFill>
                    <a:srgbClr val="13201A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3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.04"/>
        </c:scaling>
        <c:delete val="1"/>
        <c:axPos val="b"/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Capital</c:v>
                </c:pt>
              </c:strCache>
            </c:strRef>
          </c:tx>
          <c:spPr>
            <a:solidFill>
              <a:srgbClr val="1F7A5C"/>
            </a:solidFill>
            <a:effectLst/>
          </c:spPr>
          <c:invertIfNegative val="0"/>
          <c:dLbls>
            <c:numFmt formatCode="$#,##0&quot;K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7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9E7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FE0C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Unit renovation
118 units</c:v>
                  </c:pt>
                  <c:pt idx="1">
                    <c:v>Non-unit capital
roof, drains, amenity</c:v>
                  </c:pt>
                  <c:pt idx="2">
                    <c:v>Contingency
8%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1700</c:v>
                </c:pt>
                <c:pt idx="1">
                  <c:v>985</c:v>
                </c:pt>
                <c:pt idx="2">
                  <c:v>215</c:v>
                </c:pt>
              </c:numCache>
            </c:numRef>
          </c:val>
        </c:ser>
        <c:dLbls>
          <c:numFmt formatCode="$#,##0&quot;K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3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F72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0"/>
          <c:min val="0"/>
        </c:scaling>
        <c:delete val="1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was not handed a price — it solves for one. $12.0mm is the highest basis at which this plan clears 14% and 1.80x on rent growth taken from 1Q-26 actuals. It traded 12% above that on 12 June 2026. Conservative on what we do not control (rent growth, exit cap, taxes evidenced against 25 years of assessment record); confident on what we do (renovation premium, pace, ancillary income).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tornado from the bottom: the only bar that breaks the deal is the one we do not control. Rent growth at a flat 1.0% takes it to 7.1%; at 3.5% it is 18.7%. Everything we do control — premium, cost, pace — moves it roughly 5 points either way, which is why the bid, not the business plan, is the decision in front of the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5603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Chateau in the Woods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29768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  ·  4020 Monaco Drive, Indianapolis, IN 46220  ·  Built 1974  ·  134,371 SF  ·  96.6% occupied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052560" y="292608"/>
            <a:ext cx="2724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</a:t>
            </a:r>
            <a:endParaRPr lang="en-US" sz="1100" dirty="0"/>
          </a:p>
          <a:p>
            <a:pPr algn="r" indent="0" marL="0">
              <a:buNone/>
            </a:pPr>
            <a:r>
              <a:rPr lang="en-US" sz="95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Value-Add Acquisition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051560"/>
            <a:ext cx="11365992" cy="676656"/>
          </a:xfrm>
          <a:prstGeom prst="roundRect">
            <a:avLst>
              <a:gd name="adj" fmla="val 8108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01600" dist="25400" dir="5400000">
              <a:srgbClr val="081E1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051560"/>
            <a:ext cx="6583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0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 $12,000,000.  </a:t>
            </a:r>
            <a:pPr indent="0" marL="0">
              <a:buNone/>
            </a:pPr>
            <a:r>
              <a:rPr lang="en-US" sz="1550" dirty="0">
                <a:solidFill>
                  <a:srgbClr val="2A20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is the only variable we control.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269480" y="105156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A20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at $13,625,000 — 12% above us.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0" name="Text 8"/>
          <p:cNvSpPr/>
          <p:nvPr/>
        </p:nvSpPr>
        <p:spPr>
          <a:xfrm>
            <a:off x="557784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14.0% / 1.81x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57784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/ multiple at our bid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88336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+111 bps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834640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Year-5 yield on cost over the 6.75% exit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65192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6" name="Text 14"/>
          <p:cNvSpPr/>
          <p:nvPr/>
        </p:nvSpPr>
        <p:spPr>
          <a:xfrm>
            <a:off x="5111496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12.9%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111496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renovation cost, $14,407/unit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242048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19" name="Text 17"/>
          <p:cNvSpPr/>
          <p:nvPr/>
        </p:nvSpPr>
        <p:spPr>
          <a:xfrm>
            <a:off x="7388352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FC9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months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388352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118 units renovated, nobody displaced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9518904" y="1874520"/>
            <a:ext cx="2130552" cy="896112"/>
          </a:xfrm>
          <a:prstGeom prst="roundRect">
            <a:avLst>
              <a:gd name="adj" fmla="val 5102"/>
            </a:avLst>
          </a:prstGeom>
          <a:solidFill>
            <a:srgbClr val="164C3A"/>
          </a:solidFill>
          <a:ln/>
        </p:spPr>
      </p:sp>
      <p:sp>
        <p:nvSpPr>
          <p:cNvPr id="22" name="Text 20"/>
          <p:cNvSpPr/>
          <p:nvPr/>
        </p:nvSpPr>
        <p:spPr>
          <a:xfrm>
            <a:off x="9665208" y="194767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3A6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7.9% / 1.42x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665208" y="23134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C9D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plan at the $13.625mm trade price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11480" y="2962656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by purchase price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" y="3200400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hold · 6.75% exit cap held constant · every bar is a live cash flow, not an interpolation</a:t>
            </a:r>
            <a:endParaRPr lang="en-US" sz="8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274320" y="3401568"/>
          <a:ext cx="69037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11480" y="6309360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14% hurdle.  Cleared at or below $12.0mm.  Red = the actual trade and above.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452360" y="2962656"/>
            <a:ext cx="4325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bid vs. the trade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452360" y="3200400"/>
            <a:ext cx="4325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business plan, identical NOI — only the basis changes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38144"/>
          <a:ext cx="4325112" cy="914400"/>
        </p:xfrm>
        <a:graphic>
          <a:graphicData uri="http://schemas.openxmlformats.org/drawingml/2006/table">
            <a:tbl>
              <a:tblPr/>
              <a:tblGrid>
                <a:gridCol w="2112264"/>
                <a:gridCol w="1133856"/>
                <a:gridCol w="1078992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 to Jul-31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bid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$13.625mm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$101,695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$115,466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Going-in cap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basis per 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$126,269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 equity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$5.59mm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$6.20mm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NOI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$873K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NOI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$1,171K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$1,171K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yield on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 over 6.75%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+111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bps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cash-on-cash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IRR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D5E2D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FC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Levered IRR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C9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A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multiple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8FC9A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A6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5A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2E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/>
          <p:nvPr/>
        </p:nvSpPr>
        <p:spPr>
          <a:xfrm>
            <a:off x="411480" y="6547104"/>
            <a:ext cx="11365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C8F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roll 07/01/2026 · T-12 Feb-25 to Jan-26 · CBRE OM 09/10/2025 · Yardi Matrix Indianapolis 1Q-2026 · Marion County parcel 8000002. Rent growth set off 1Q-26 ACTUALS, not a forecast. Debt 65% LTC / 8.0% min debt yield / 1.25x DSCR / 5.85% interest-only.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value comes from — and what moves it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8595360" y="274320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Chateau in the Woods  ·  118 Units  ·  Indianapolis, IN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72237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66751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 grows 34% in five years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39496" y="87782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$873K in Year 1 → $1,171K in Year 5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46888" y="1097280"/>
          <a:ext cx="393192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61104" y="72237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0" name="Text 7"/>
          <p:cNvSpPr/>
          <p:nvPr/>
        </p:nvSpPr>
        <p:spPr>
          <a:xfrm>
            <a:off x="4389120" y="66751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 on cost clears the exit cap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389120" y="87782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value-add test: 7.86% vs 6.75% = +111 bps</a:t>
            </a:r>
            <a:endParaRPr lang="en-US" sz="8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4096512" y="1097280"/>
          <a:ext cx="393192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4261104" y="2596896"/>
            <a:ext cx="3675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yield on cost   ·   dashed = 6.75% exit cap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110728" y="72237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5" name="Text 11"/>
          <p:cNvSpPr/>
          <p:nvPr/>
        </p:nvSpPr>
        <p:spPr>
          <a:xfrm>
            <a:off x="8238744" y="667512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tracks, done in month 16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238744" y="87782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units renovated, by month</a:t>
            </a:r>
            <a:endParaRPr lang="en-US" sz="8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7946136" y="1097280"/>
          <a:ext cx="393192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/>
          <p:nvPr/>
        </p:nvSpPr>
        <p:spPr>
          <a:xfrm>
            <a:off x="8110728" y="25968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53 units renovated in place (no permit, no vacancy loss)  ·  pale = 65 units taken vacant to add laundry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411480" y="2990088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0" name="Text 15"/>
          <p:cNvSpPr/>
          <p:nvPr/>
        </p:nvSpPr>
        <p:spPr>
          <a:xfrm>
            <a:off x="539496" y="2935224"/>
            <a:ext cx="6638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moves the 14.0% — breakeven ladders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39496" y="3145536"/>
            <a:ext cx="6638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at our $12.0mm bid. Each bar spans the full range tested; left number is the downside, right the upside.</a:t>
            </a:r>
            <a:endParaRPr lang="en-US" sz="800" dirty="0"/>
          </a:p>
        </p:txBody>
      </p:sp>
      <p:graphicFrame>
        <p:nvGraphicFramePr>
          <p:cNvPr id="22" name="Chart 3" descr=""/>
          <p:cNvGraphicFramePr/>
          <p:nvPr/>
        </p:nvGraphicFramePr>
        <p:xfrm>
          <a:off x="182880" y="3438144"/>
          <a:ext cx="7086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3" name="Shape 17"/>
          <p:cNvSpPr/>
          <p:nvPr/>
        </p:nvSpPr>
        <p:spPr>
          <a:xfrm>
            <a:off x="7452360" y="2990088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4" name="Text 18"/>
          <p:cNvSpPr/>
          <p:nvPr/>
        </p:nvSpPr>
        <p:spPr>
          <a:xfrm>
            <a:off x="7580376" y="293522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assumptions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7580376" y="3145536"/>
            <a:ext cx="4197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off Yardi 1Q-26 actuals and the 25-year county tax record — not forecasts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2360" y="3438144"/>
          <a:ext cx="432511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1828800"/>
              </a:tblGrid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Underwritten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 — SOLVED, not given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rent growth, Y1 to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/ 2.0 / 2.5 / 3.0 / 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vacancy / Year-1 bad debt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 / 1.50%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— start / pace / cost / prem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2 / 10 / $10,000 / $100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B — start / pace / cost / prem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4 / 5 / $18,000 / $200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cost / premium / return on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$14,407 / $155 / 12.9%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Non-unit capital + 8% contingency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$1,199,800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expenses, Year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$8,929 per unit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 taxes, Y1 to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$137,000 to $160,300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— LTC / rate / structure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 / 5.85% / interest-only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cap / cost of sale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 / 1.5%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hierarchy — the Excel files govern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with laundry, not 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2700" marB="127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0"/>
          <p:cNvSpPr/>
          <p:nvPr/>
        </p:nvSpPr>
        <p:spPr>
          <a:xfrm>
            <a:off x="411480" y="5724144"/>
            <a:ext cx="3566160" cy="32004"/>
          </a:xfrm>
          <a:prstGeom prst="rect">
            <a:avLst/>
          </a:prstGeom>
          <a:solidFill>
            <a:srgbClr val="1F7A5C"/>
          </a:solidFill>
          <a:ln/>
        </p:spPr>
      </p:sp>
      <p:sp>
        <p:nvSpPr>
          <p:cNvPr id="28" name="Text 21"/>
          <p:cNvSpPr/>
          <p:nvPr/>
        </p:nvSpPr>
        <p:spPr>
          <a:xfrm>
            <a:off x="411480" y="579729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OPPORTUNITIES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411480" y="599846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12.9% return on renovation cost.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$14,407 buys $155 a month.</a:t>
            </a:r>
            <a:endParaRPr lang="en-US" sz="800" dirty="0"/>
          </a:p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118 units in 16 months.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tracks, nobody displaced, no permit on 53.</a:t>
            </a:r>
            <a:endParaRPr lang="en-US" sz="800" dirty="0"/>
          </a:p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~$110K a year uncollected.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fee 60% penetrated, valet trash unbilled, no pet rent.</a:t>
            </a:r>
            <a:endParaRPr lang="en-US" sz="800" dirty="0"/>
          </a:p>
        </p:txBody>
      </p:sp>
      <p:sp>
        <p:nvSpPr>
          <p:cNvPr id="30" name="Shape 23"/>
          <p:cNvSpPr/>
          <p:nvPr/>
        </p:nvSpPr>
        <p:spPr>
          <a:xfrm>
            <a:off x="4206240" y="5724144"/>
            <a:ext cx="3566160" cy="3200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4"/>
          <p:cNvSpPr/>
          <p:nvPr/>
        </p:nvSpPr>
        <p:spPr>
          <a:xfrm>
            <a:off x="4206240" y="579729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E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4206240" y="5998464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 — the dominant variable.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flat 1.0%, the IRR is 7.1%.</a:t>
            </a:r>
            <a:endParaRPr lang="en-US" sz="800" dirty="0"/>
          </a:p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traded 12% above our bid; there the plan returns 7.9%.</a:t>
            </a:r>
            <a:endParaRPr lang="en-US" sz="800" dirty="0"/>
          </a:p>
          <a:p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Unproven premium, 1974 plant. </a:t>
            </a:r>
            <a:pPr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A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renovated to standard; 3.5 of 5 roofs original.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8001000" y="5724144"/>
            <a:ext cx="3776472" cy="969264"/>
          </a:xfrm>
          <a:prstGeom prst="roundRect">
            <a:avLst>
              <a:gd name="adj" fmla="val 4717"/>
            </a:avLst>
          </a:prstGeom>
          <a:solidFill>
            <a:srgbClr val="0D3B2E"/>
          </a:solidFill>
          <a:ln/>
          <a:effectLst>
            <a:outerShdw sx="100000" sy="100000" kx="0" ky="0" algn="bl" rotWithShape="0" blurRad="101600" dist="25400" dir="5400000">
              <a:srgbClr val="081E16">
                <a:alpha val="18000"/>
              </a:srgbClr>
            </a:outerShdw>
          </a:effectLst>
        </p:spPr>
      </p:sp>
      <p:sp>
        <p:nvSpPr>
          <p:cNvPr id="34" name="Text 27"/>
          <p:cNvSpPr/>
          <p:nvPr/>
        </p:nvSpPr>
        <p:spPr>
          <a:xfrm>
            <a:off x="8183880" y="58155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C9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ASSESSMENT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8183880" y="6016752"/>
            <a:ext cx="3456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DDE8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genuinely accretive plan on a well-located asset — but only at a price. We bid $12.0mm and were outbid by 12%. On 1.1% actual metro rent growth, that is the right outcome.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 ·  Business plan, price sensitivity and the evidence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95360" y="292608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the 13-tab workbook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11480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39496" y="75895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tracks, chosen by what each unit needs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52144"/>
          <a:ext cx="54864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057400"/>
                <a:gridCol w="2011680"/>
              </a:tblGrid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A — in place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 B — vacant unit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— laundry already in unit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— laundry to be added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impact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resident stays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turnover only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cosmetic scope exempt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CDR, then county DBNS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pace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2 / 10 per month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4 / 5 per month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unit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$13,000 + $5,000 laundry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 premium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 / month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/ month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captured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renewal — 6-month lag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Immediately, on the new lease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incremental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3346704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3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$14,407 per unit buys a $155 per month premium — a 12.9% return on cost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against a 6.75% exit. A single-track plan at 5 units a month would take 27 months; running the 53 in place in parallel finishes in 16 without forcing a single resident out.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40142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0" name="Text 7"/>
          <p:cNvSpPr/>
          <p:nvPr/>
        </p:nvSpPr>
        <p:spPr>
          <a:xfrm>
            <a:off x="539496" y="3959352"/>
            <a:ext cx="5358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$2.90mm of capital goes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39496" y="4169664"/>
            <a:ext cx="5358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$24,575 per unit, all funded at closing in Sources &amp; Uses</a:t>
            </a:r>
            <a:endParaRPr lang="en-US" sz="8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74320" y="4480560"/>
          <a:ext cx="57150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/>
          <p:nvPr/>
        </p:nvSpPr>
        <p:spPr>
          <a:xfrm>
            <a:off x="411480" y="641908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levered cash-on-cash 8.4% — 4.9% in Year 1 while the renovation runs, 10.1% by Year 5.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263640" y="813816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15" name="Text 11"/>
          <p:cNvSpPr/>
          <p:nvPr/>
        </p:nvSpPr>
        <p:spPr>
          <a:xfrm>
            <a:off x="6391656" y="758952"/>
            <a:ext cx="5385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— purchase price × exit cap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391656" y="969264"/>
            <a:ext cx="5385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hurdle moves with the exit: at a 7.25% exit we can pay $11.25mm; at 6.25%, $12.87mm.</a:t>
            </a:r>
            <a:endParaRPr lang="en-US" sz="8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280160"/>
          <a:ext cx="5513832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841248"/>
                <a:gridCol w="841248"/>
                <a:gridCol w="841248"/>
                <a:gridCol w="841248"/>
                <a:gridCol w="841248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5C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E0C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$12.5mm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$13.0mm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E2B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$13.625mm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3"/>
          <p:cNvSpPr/>
          <p:nvPr/>
        </p:nvSpPr>
        <p:spPr>
          <a:xfrm>
            <a:off x="6263640" y="2852928"/>
            <a:ext cx="55138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≥ 14%.  Base case $12.0mm at a 6.75% exit = 14.0%.  $13.625mm is what it traded for.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6263640" y="3209544"/>
            <a:ext cx="50292" cy="182880"/>
          </a:xfrm>
          <a:prstGeom prst="rect">
            <a:avLst/>
          </a:prstGeom>
          <a:solidFill>
            <a:srgbClr val="2E9E76"/>
          </a:solidFill>
          <a:ln/>
        </p:spPr>
      </p:sp>
      <p:sp>
        <p:nvSpPr>
          <p:cNvPr id="20" name="Text 15"/>
          <p:cNvSpPr/>
          <p:nvPr/>
        </p:nvSpPr>
        <p:spPr>
          <a:xfrm>
            <a:off x="6391656" y="3154680"/>
            <a:ext cx="5385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and public-record evidence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391656" y="3364992"/>
            <a:ext cx="5385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Actuals, not forecasts — this is what the assumptions are set off</a:t>
            </a:r>
            <a:endParaRPr lang="en-US" sz="8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675888"/>
          <a:ext cx="5513832" cy="914400"/>
        </p:xfrm>
        <a:graphic>
          <a:graphicData uri="http://schemas.openxmlformats.org/drawingml/2006/table">
            <a:tbl>
              <a:tblPr/>
              <a:tblGrid>
                <a:gridCol w="2852928"/>
                <a:gridCol w="1417320"/>
                <a:gridCol w="1243584"/>
              </a:tblGrid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01A"/>
                    </a:solidFill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Indianapolis metro asking rent, 1Q-26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Trailing-three-month rent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Year-over-year rent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construction starts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than doubled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Yardi Matrix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net annual tax bill, parcel 8000002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$129,648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Assessed value range, 2012 to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$5.1 – 6.6mm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recorded assessment change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Mar 2022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AV as a share of the 2026 trade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price, deed 12 Jun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$13,625,000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01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4A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sale, Mar 2006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320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$4,400,000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72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Marion County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17"/>
          <p:cNvSpPr/>
          <p:nvPr/>
        </p:nvSpPr>
        <p:spPr>
          <a:xfrm>
            <a:off x="6263640" y="5815584"/>
            <a:ext cx="55138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F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values apartments at the lowest of the income, market and cost approaches — which is why assessed value here has not tracked trade prices. An earlier draft stepped taxes toward a share of the purchase price; the record does not support it, and correcting it is worth about 1.5 points of levered IRR. The risk is still priced, in Ladder C.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Chateau in the Woods — Investment Committee Recommendation</dc:title>
  <dc:subject>PptxGenJS Presentation</dc:subject>
  <dc:creator>Investment Committee Memorandum</dc:creator>
  <cp:lastModifiedBy>Investment Committee Memorandum</cp:lastModifiedBy>
  <cp:revision>1</cp:revision>
  <dcterms:created xsi:type="dcterms:W3CDTF">2026-07-30T19:56:21Z</dcterms:created>
  <dcterms:modified xsi:type="dcterms:W3CDTF">2026-07-30T19:56:21Z</dcterms:modified>
</cp:coreProperties>
</file>